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cc7414df-fa19-6b8d-985d-c62a2619d20d}">
          <p14:sldIdLst>
            <p14:sldId id="256"/>
          </p14:sldIdLst>
        </p14:section>
        <p14:section name="Topology" id="{5f173697-8bf4-7ca5-e369-e6fbdac91b41}">
          <p14:sldIdLst>
            <p14:sldId id="257"/>
            <p14:sldId id="258"/>
            <p14:sldId id="259"/>
          </p14:sldIdLst>
        </p14:section>
        <p14:section name="Configuration" id="{3aac657f-b47b-48a4-45cf-2ff50041539f}">
          <p14:sldIdLst>
            <p14:sldId id="260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deck for the home lab. Numbers come from read-only captures taken 2026-10-03 to 2026-10-06; re-capture before relying on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three T0s peer with both Palo firewalls over VLAN 500. Each manager's T1s hold the .1 gateway for its three VLAN-backed /24s. lm3 took over 10.8 on 2026-10-03; lm1's old 10.8 segment and T1 were deleted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palo7/palo8 sit under pano1, which .env labels panorama_prod; the lab PAN tooling is bound to pano4, whose three firewalls have no 10.5.0.x interfaces. Whether Palo work goes direct to the firewalls or through Panorama is undecided.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manager's number sets its workload /16 and VLAN prefix. The three TEP pools live in one subnet and overlap by range, though no address is actually shared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lm2 is exactly lm1 plus Workflows A and C, so copying lm2 to lm3 and then updating lm3 from lm1 with the same workflows stays consistent. lm1's 24 orphan _avs_ips groups were deleted on 2026-10-06 so they would not be copied.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needs a decision. Accepted: explicitly decided to keep (2026-10-04). Known: same on all three managers or recorded during the lm3 build; no decision taken.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Lab topology  |  captured 2026-10-03 to 2026-10-06  |  docs/reference/LAB_TOPOLOGY.md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Lab topology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383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Three NSX Local Managers, one Palo Alto edge</a:t>
            </a:r>
            <a:endParaRPr lang="en-US" sz="2000" dirty="0"/>
          </a:p>
        </p:txBody>
      </p:sp>
      <p:sp>
        <p:nvSpPr>
          <p:cNvPr id="4" name="title-chip-nsx-lm1"/>
          <p:cNvSpPr/>
          <p:nvPr/>
        </p:nvSpPr>
        <p:spPr>
          <a:xfrm>
            <a:off x="731520" y="4846320"/>
            <a:ext cx="1920240" cy="685800"/>
          </a:xfrm>
          <a:prstGeom prst="roundRect">
            <a:avLst>
              <a:gd name="adj" fmla="val 10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nsx-lm1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10.6.0.0/16</a:t>
            </a:r>
            <a:endParaRPr lang="en-US" sz="1300" dirty="0"/>
          </a:p>
        </p:txBody>
      </p:sp>
      <p:sp>
        <p:nvSpPr>
          <p:cNvPr id="5" name="title-chip-nsx-lm2"/>
          <p:cNvSpPr/>
          <p:nvPr/>
        </p:nvSpPr>
        <p:spPr>
          <a:xfrm>
            <a:off x="2880360" y="4846320"/>
            <a:ext cx="192024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nsx-lm2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10.7.0.0/16</a:t>
            </a:r>
            <a:endParaRPr lang="en-US" sz="1300" dirty="0"/>
          </a:p>
        </p:txBody>
      </p:sp>
      <p:sp>
        <p:nvSpPr>
          <p:cNvPr id="6" name="title-chip-nsx-lm3"/>
          <p:cNvSpPr/>
          <p:nvPr/>
        </p:nvSpPr>
        <p:spPr>
          <a:xfrm>
            <a:off x="5029200" y="4846320"/>
            <a:ext cx="1920240" cy="685800"/>
          </a:xfrm>
          <a:prstGeom prst="roundRect">
            <a:avLst>
              <a:gd name="adj" fmla="val 10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nsx-lm3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10.8.0.0/16</a:t>
            </a:r>
            <a:endParaRPr lang="en-US" sz="1300" dirty="0"/>
          </a:p>
        </p:txBody>
      </p:sp>
      <p:sp>
        <p:nvSpPr>
          <p:cNvPr id="7" name="title-chip-palo"/>
          <p:cNvSpPr/>
          <p:nvPr/>
        </p:nvSpPr>
        <p:spPr>
          <a:xfrm>
            <a:off x="7178040" y="4846320"/>
            <a:ext cx="2377440" cy="685800"/>
          </a:xfrm>
          <a:prstGeom prst="roundRect">
            <a:avLst>
              <a:gd name="adj" fmla="val 10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palo7 + palo8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BGP peers, via pano1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Each manager routes its own /16 to the Palo pair</a:t>
            </a:r>
            <a:endParaRPr lang="en-US" sz="3000" dirty="0"/>
          </a:p>
        </p:txBody>
      </p:sp>
      <p:sp>
        <p:nvSpPr>
          <p:cNvPr id="3" name="peer-palo7"/>
          <p:cNvSpPr/>
          <p:nvPr/>
        </p:nvSpPr>
        <p:spPr>
          <a:xfrm>
            <a:off x="2743200" y="1188720"/>
            <a:ext cx="246888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palo7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10.5.0.7  |  AS 64007</a:t>
            </a:r>
            <a:endParaRPr lang="en-US" sz="1300" dirty="0"/>
          </a:p>
        </p:txBody>
      </p:sp>
      <p:sp>
        <p:nvSpPr>
          <p:cNvPr id="4" name="peer-palo7-down"/>
          <p:cNvSpPr/>
          <p:nvPr/>
        </p:nvSpPr>
        <p:spPr>
          <a:xfrm>
            <a:off x="3977640" y="1920240"/>
            <a:ext cx="0" cy="411480"/>
          </a:xfrm>
          <a:prstGeom prst="line">
            <a:avLst/>
          </a:prstGeom>
          <a:noFill/>
          <a:ln w="19050">
            <a:solidFill>
              <a:srgbClr val="EB852D"/>
            </a:solidFill>
            <a:prstDash val="solid"/>
          </a:ln>
        </p:spPr>
      </p:sp>
      <p:sp>
        <p:nvSpPr>
          <p:cNvPr id="5" name="peer-palo8"/>
          <p:cNvSpPr/>
          <p:nvPr/>
        </p:nvSpPr>
        <p:spPr>
          <a:xfrm>
            <a:off x="6976872" y="1188720"/>
            <a:ext cx="2468880" cy="731520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palo8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10.5.0.8  |  AS 64008</a:t>
            </a:r>
            <a:endParaRPr lang="en-US" sz="1300" dirty="0"/>
          </a:p>
        </p:txBody>
      </p:sp>
      <p:sp>
        <p:nvSpPr>
          <p:cNvPr id="6" name="peer-palo8-down"/>
          <p:cNvSpPr/>
          <p:nvPr/>
        </p:nvSpPr>
        <p:spPr>
          <a:xfrm>
            <a:off x="8211312" y="1920240"/>
            <a:ext cx="0" cy="411480"/>
          </a:xfrm>
          <a:prstGeom prst="line">
            <a:avLst/>
          </a:prstGeom>
          <a:noFill/>
          <a:ln w="19050">
            <a:solidFill>
              <a:srgbClr val="EB852D"/>
            </a:solidFill>
            <a:prstDash val="solid"/>
          </a:ln>
        </p:spPr>
      </p:sp>
      <p:sp>
        <p:nvSpPr>
          <p:cNvPr id="7" name="peer-mgmt-note"/>
          <p:cNvSpPr txBox="1"/>
          <p:nvPr/>
        </p:nvSpPr>
        <p:spPr>
          <a:xfrm>
            <a:off x="9646920" y="1371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Managed by pano1</a:t>
            </a:r>
            <a:endParaRPr lang="en-US" sz="1200" dirty="0"/>
          </a:p>
        </p:txBody>
      </p:sp>
      <p:sp>
        <p:nvSpPr>
          <p:cNvPr id="8" name="transit-vlan500"/>
          <p:cNvSpPr/>
          <p:nvPr/>
        </p:nvSpPr>
        <p:spPr>
          <a:xfrm>
            <a:off x="548640" y="2331720"/>
            <a:ext cx="11064240" cy="41148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VLAN 500  |  10.5.0.0/24  |  eBGP, ECMP, active/active T0s</a:t>
            </a:r>
            <a:endParaRPr lang="en-US" sz="1300" dirty="0"/>
          </a:p>
        </p:txBody>
      </p:sp>
      <p:sp>
        <p:nvSpPr>
          <p:cNvPr id="9" name="nsx-lm1-uplink"/>
          <p:cNvSpPr/>
          <p:nvPr/>
        </p:nvSpPr>
        <p:spPr>
          <a:xfrm>
            <a:off x="2308860" y="2743200"/>
            <a:ext cx="0" cy="320040"/>
          </a:xfrm>
          <a:prstGeom prst="line">
            <a:avLst/>
          </a:prstGeom>
          <a:noFill/>
          <a:ln w="19050">
            <a:solidFill>
              <a:srgbClr val="C9D3DE"/>
            </a:solidFill>
            <a:prstDash val="solid"/>
          </a:ln>
        </p:spPr>
      </p:sp>
      <p:sp>
        <p:nvSpPr>
          <p:cNvPr id="10" name="nsx-lm1-t0"/>
          <p:cNvSpPr/>
          <p:nvPr/>
        </p:nvSpPr>
        <p:spPr>
          <a:xfrm>
            <a:off x="548640" y="3063240"/>
            <a:ext cx="35204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t0-gateway-1  |  AS 65111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uplinks 10.5.0.11 / .12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edge1 + edge2 (SMALL)</a:t>
            </a:r>
            <a:endParaRPr lang="en-US" sz="1300" dirty="0"/>
          </a:p>
        </p:txBody>
      </p:sp>
      <p:sp>
        <p:nvSpPr>
          <p:cNvPr id="11" name="nsx-lm1-t0-t1-0"/>
          <p:cNvSpPr/>
          <p:nvPr/>
        </p:nvSpPr>
        <p:spPr>
          <a:xfrm>
            <a:off x="1089660" y="3931920"/>
            <a:ext cx="0" cy="274320"/>
          </a:xfrm>
          <a:prstGeom prst="line">
            <a:avLst/>
          </a:prstGeom>
          <a:noFill/>
          <a:ln w="19050">
            <a:solidFill>
              <a:srgbClr val="216FBD"/>
            </a:solidFill>
            <a:prstDash val="solid"/>
          </a:ln>
        </p:spPr>
      </p:sp>
      <p:sp>
        <p:nvSpPr>
          <p:cNvPr id="12" name="nsx-lm1-t1-0"/>
          <p:cNvSpPr/>
          <p:nvPr/>
        </p:nvSpPr>
        <p:spPr>
          <a:xfrm>
            <a:off x="548640" y="4206240"/>
            <a:ext cx="10820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T1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10.6.0.1</a:t>
            </a:r>
            <a:endParaRPr lang="en-US" sz="1300" dirty="0"/>
          </a:p>
        </p:txBody>
      </p:sp>
      <p:sp>
        <p:nvSpPr>
          <p:cNvPr id="13" name="nsx-lm1-t1-seg-0"/>
          <p:cNvSpPr/>
          <p:nvPr/>
        </p:nvSpPr>
        <p:spPr>
          <a:xfrm>
            <a:off x="1089660" y="4754880"/>
            <a:ext cx="0" cy="182880"/>
          </a:xfrm>
          <a:prstGeom prst="line">
            <a:avLst/>
          </a:prstGeom>
          <a:noFill/>
          <a:ln w="19050">
            <a:solidFill>
              <a:srgbClr val="C9D3DE"/>
            </a:solidFill>
            <a:prstDash val="solid"/>
          </a:ln>
        </p:spPr>
      </p:sp>
      <p:sp>
        <p:nvSpPr>
          <p:cNvPr id="14" name="nsx-lm1-seg-0"/>
          <p:cNvSpPr/>
          <p:nvPr/>
        </p:nvSpPr>
        <p:spPr>
          <a:xfrm>
            <a:off x="548640" y="4937760"/>
            <a:ext cx="1082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10.6.0.0/24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VLAN 600</a:t>
            </a:r>
            <a:endParaRPr lang="en-US" sz="1300" dirty="0"/>
          </a:p>
        </p:txBody>
      </p:sp>
      <p:sp>
        <p:nvSpPr>
          <p:cNvPr id="15" name="nsx-lm1-t0-t1-1"/>
          <p:cNvSpPr/>
          <p:nvPr/>
        </p:nvSpPr>
        <p:spPr>
          <a:xfrm>
            <a:off x="2308860" y="3931920"/>
            <a:ext cx="0" cy="274320"/>
          </a:xfrm>
          <a:prstGeom prst="line">
            <a:avLst/>
          </a:prstGeom>
          <a:noFill/>
          <a:ln w="19050">
            <a:solidFill>
              <a:srgbClr val="216FBD"/>
            </a:solidFill>
            <a:prstDash val="solid"/>
          </a:ln>
        </p:spPr>
      </p:sp>
      <p:sp>
        <p:nvSpPr>
          <p:cNvPr id="16" name="nsx-lm1-t1-1"/>
          <p:cNvSpPr/>
          <p:nvPr/>
        </p:nvSpPr>
        <p:spPr>
          <a:xfrm>
            <a:off x="1767840" y="4206240"/>
            <a:ext cx="10820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T1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10.6.1.1</a:t>
            </a:r>
            <a:endParaRPr lang="en-US" sz="1300" dirty="0"/>
          </a:p>
        </p:txBody>
      </p:sp>
      <p:sp>
        <p:nvSpPr>
          <p:cNvPr id="17" name="nsx-lm1-t1-seg-1"/>
          <p:cNvSpPr/>
          <p:nvPr/>
        </p:nvSpPr>
        <p:spPr>
          <a:xfrm>
            <a:off x="2308860" y="4754880"/>
            <a:ext cx="0" cy="182880"/>
          </a:xfrm>
          <a:prstGeom prst="line">
            <a:avLst/>
          </a:prstGeom>
          <a:noFill/>
          <a:ln w="19050">
            <a:solidFill>
              <a:srgbClr val="C9D3DE"/>
            </a:solidFill>
            <a:prstDash val="solid"/>
          </a:ln>
        </p:spPr>
      </p:sp>
      <p:sp>
        <p:nvSpPr>
          <p:cNvPr id="18" name="nsx-lm1-seg-1"/>
          <p:cNvSpPr/>
          <p:nvPr/>
        </p:nvSpPr>
        <p:spPr>
          <a:xfrm>
            <a:off x="1767840" y="4937760"/>
            <a:ext cx="1082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10.6.1.0/24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VLAN 610</a:t>
            </a:r>
            <a:endParaRPr lang="en-US" sz="1300" dirty="0"/>
          </a:p>
        </p:txBody>
      </p:sp>
      <p:sp>
        <p:nvSpPr>
          <p:cNvPr id="19" name="nsx-lm1-t0-t1-2"/>
          <p:cNvSpPr/>
          <p:nvPr/>
        </p:nvSpPr>
        <p:spPr>
          <a:xfrm>
            <a:off x="3528060" y="3931920"/>
            <a:ext cx="0" cy="274320"/>
          </a:xfrm>
          <a:prstGeom prst="line">
            <a:avLst/>
          </a:prstGeom>
          <a:noFill/>
          <a:ln w="19050">
            <a:solidFill>
              <a:srgbClr val="216FBD"/>
            </a:solidFill>
            <a:prstDash val="solid"/>
          </a:ln>
        </p:spPr>
      </p:sp>
      <p:sp>
        <p:nvSpPr>
          <p:cNvPr id="20" name="nsx-lm1-t1-2"/>
          <p:cNvSpPr/>
          <p:nvPr/>
        </p:nvSpPr>
        <p:spPr>
          <a:xfrm>
            <a:off x="2987040" y="4206240"/>
            <a:ext cx="10820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T1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10.6.2.1</a:t>
            </a:r>
            <a:endParaRPr lang="en-US" sz="1300" dirty="0"/>
          </a:p>
        </p:txBody>
      </p:sp>
      <p:sp>
        <p:nvSpPr>
          <p:cNvPr id="21" name="nsx-lm1-t1-seg-2"/>
          <p:cNvSpPr/>
          <p:nvPr/>
        </p:nvSpPr>
        <p:spPr>
          <a:xfrm>
            <a:off x="3528060" y="4754880"/>
            <a:ext cx="0" cy="182880"/>
          </a:xfrm>
          <a:prstGeom prst="line">
            <a:avLst/>
          </a:prstGeom>
          <a:noFill/>
          <a:ln w="19050">
            <a:solidFill>
              <a:srgbClr val="C9D3DE"/>
            </a:solidFill>
            <a:prstDash val="solid"/>
          </a:ln>
        </p:spPr>
      </p:sp>
      <p:sp>
        <p:nvSpPr>
          <p:cNvPr id="22" name="nsx-lm1-seg-2"/>
          <p:cNvSpPr/>
          <p:nvPr/>
        </p:nvSpPr>
        <p:spPr>
          <a:xfrm>
            <a:off x="2987040" y="4937760"/>
            <a:ext cx="1082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10.6.2.0/24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VLAN 620</a:t>
            </a:r>
            <a:endParaRPr lang="en-US" sz="1300" dirty="0"/>
          </a:p>
        </p:txBody>
      </p:sp>
      <p:sp>
        <p:nvSpPr>
          <p:cNvPr id="23" name="nsx-lm1-footer"/>
          <p:cNvSpPr txBox="1"/>
          <p:nvPr/>
        </p:nvSpPr>
        <p:spPr>
          <a:xfrm>
            <a:off x="548640" y="56692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nsx-lm1  |  vcenter1  |  vsphere11 / vsphere12</a:t>
            </a:r>
            <a:endParaRPr lang="en-US" sz="1200" dirty="0"/>
          </a:p>
        </p:txBody>
      </p:sp>
      <p:sp>
        <p:nvSpPr>
          <p:cNvPr id="24" name="nsx-lm2-uplink"/>
          <p:cNvSpPr/>
          <p:nvPr/>
        </p:nvSpPr>
        <p:spPr>
          <a:xfrm>
            <a:off x="6080760" y="2743200"/>
            <a:ext cx="0" cy="320040"/>
          </a:xfrm>
          <a:prstGeom prst="line">
            <a:avLst/>
          </a:prstGeom>
          <a:noFill/>
          <a:ln w="19050">
            <a:solidFill>
              <a:srgbClr val="C9D3DE"/>
            </a:solidFill>
            <a:prstDash val="solid"/>
          </a:ln>
        </p:spPr>
      </p:sp>
      <p:sp>
        <p:nvSpPr>
          <p:cNvPr id="25" name="nsx-lm2-t0"/>
          <p:cNvSpPr/>
          <p:nvPr/>
        </p:nvSpPr>
        <p:spPr>
          <a:xfrm>
            <a:off x="4320540" y="3063240"/>
            <a:ext cx="3520440" cy="868680"/>
          </a:xfrm>
          <a:prstGeom prst="roundRect">
            <a:avLst>
              <a:gd name="adj" fmla="val 8421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t0-gateway-2  |  AS 65112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uplinks 10.5.0.13 / .14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edge3 + edge4 (MEDIUM)</a:t>
            </a:r>
            <a:endParaRPr lang="en-US" sz="1300" dirty="0"/>
          </a:p>
        </p:txBody>
      </p:sp>
      <p:sp>
        <p:nvSpPr>
          <p:cNvPr id="26" name="nsx-lm2-t0-t1-0"/>
          <p:cNvSpPr/>
          <p:nvPr/>
        </p:nvSpPr>
        <p:spPr>
          <a:xfrm>
            <a:off x="4861560" y="3931920"/>
            <a:ext cx="0" cy="274320"/>
          </a:xfrm>
          <a:prstGeom prst="line">
            <a:avLst/>
          </a:prstGeom>
          <a:noFill/>
          <a:ln w="19050">
            <a:solidFill>
              <a:srgbClr val="009691"/>
            </a:solidFill>
            <a:prstDash val="solid"/>
          </a:ln>
        </p:spPr>
      </p:sp>
      <p:sp>
        <p:nvSpPr>
          <p:cNvPr id="27" name="nsx-lm2-t1-0"/>
          <p:cNvSpPr/>
          <p:nvPr/>
        </p:nvSpPr>
        <p:spPr>
          <a:xfrm>
            <a:off x="4320540" y="4206240"/>
            <a:ext cx="10820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T1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10.7.0.1</a:t>
            </a:r>
            <a:endParaRPr lang="en-US" sz="1300" dirty="0"/>
          </a:p>
        </p:txBody>
      </p:sp>
      <p:sp>
        <p:nvSpPr>
          <p:cNvPr id="28" name="nsx-lm2-t1-seg-0"/>
          <p:cNvSpPr/>
          <p:nvPr/>
        </p:nvSpPr>
        <p:spPr>
          <a:xfrm>
            <a:off x="4861560" y="4754880"/>
            <a:ext cx="0" cy="182880"/>
          </a:xfrm>
          <a:prstGeom prst="line">
            <a:avLst/>
          </a:prstGeom>
          <a:noFill/>
          <a:ln w="19050">
            <a:solidFill>
              <a:srgbClr val="C9D3DE"/>
            </a:solidFill>
            <a:prstDash val="solid"/>
          </a:ln>
        </p:spPr>
      </p:sp>
      <p:sp>
        <p:nvSpPr>
          <p:cNvPr id="29" name="nsx-lm2-seg-0"/>
          <p:cNvSpPr/>
          <p:nvPr/>
        </p:nvSpPr>
        <p:spPr>
          <a:xfrm>
            <a:off x="4320540" y="4937760"/>
            <a:ext cx="1082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10.7.0.0/24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VLAN 700</a:t>
            </a:r>
            <a:endParaRPr lang="en-US" sz="1300" dirty="0"/>
          </a:p>
        </p:txBody>
      </p:sp>
      <p:sp>
        <p:nvSpPr>
          <p:cNvPr id="30" name="nsx-lm2-t0-t1-1"/>
          <p:cNvSpPr/>
          <p:nvPr/>
        </p:nvSpPr>
        <p:spPr>
          <a:xfrm>
            <a:off x="6080760" y="3931920"/>
            <a:ext cx="0" cy="274320"/>
          </a:xfrm>
          <a:prstGeom prst="line">
            <a:avLst/>
          </a:prstGeom>
          <a:noFill/>
          <a:ln w="19050">
            <a:solidFill>
              <a:srgbClr val="009691"/>
            </a:solidFill>
            <a:prstDash val="solid"/>
          </a:ln>
        </p:spPr>
      </p:sp>
      <p:sp>
        <p:nvSpPr>
          <p:cNvPr id="31" name="nsx-lm2-t1-1"/>
          <p:cNvSpPr/>
          <p:nvPr/>
        </p:nvSpPr>
        <p:spPr>
          <a:xfrm>
            <a:off x="5539740" y="4206240"/>
            <a:ext cx="10820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T1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10.7.1.1</a:t>
            </a:r>
            <a:endParaRPr lang="en-US" sz="1300" dirty="0"/>
          </a:p>
        </p:txBody>
      </p:sp>
      <p:sp>
        <p:nvSpPr>
          <p:cNvPr id="32" name="nsx-lm2-t1-seg-1"/>
          <p:cNvSpPr/>
          <p:nvPr/>
        </p:nvSpPr>
        <p:spPr>
          <a:xfrm>
            <a:off x="6080760" y="4754880"/>
            <a:ext cx="0" cy="182880"/>
          </a:xfrm>
          <a:prstGeom prst="line">
            <a:avLst/>
          </a:prstGeom>
          <a:noFill/>
          <a:ln w="19050">
            <a:solidFill>
              <a:srgbClr val="C9D3DE"/>
            </a:solidFill>
            <a:prstDash val="solid"/>
          </a:ln>
        </p:spPr>
      </p:sp>
      <p:sp>
        <p:nvSpPr>
          <p:cNvPr id="33" name="nsx-lm2-seg-1"/>
          <p:cNvSpPr/>
          <p:nvPr/>
        </p:nvSpPr>
        <p:spPr>
          <a:xfrm>
            <a:off x="5539740" y="4937760"/>
            <a:ext cx="1082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10.7.1.0/24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VLAN 710</a:t>
            </a:r>
            <a:endParaRPr lang="en-US" sz="1300" dirty="0"/>
          </a:p>
        </p:txBody>
      </p:sp>
      <p:sp>
        <p:nvSpPr>
          <p:cNvPr id="34" name="nsx-lm2-t0-t1-2"/>
          <p:cNvSpPr/>
          <p:nvPr/>
        </p:nvSpPr>
        <p:spPr>
          <a:xfrm>
            <a:off x="7299960" y="3931920"/>
            <a:ext cx="0" cy="274320"/>
          </a:xfrm>
          <a:prstGeom prst="line">
            <a:avLst/>
          </a:prstGeom>
          <a:noFill/>
          <a:ln w="19050">
            <a:solidFill>
              <a:srgbClr val="009691"/>
            </a:solidFill>
            <a:prstDash val="solid"/>
          </a:ln>
        </p:spPr>
      </p:sp>
      <p:sp>
        <p:nvSpPr>
          <p:cNvPr id="35" name="nsx-lm2-t1-2"/>
          <p:cNvSpPr/>
          <p:nvPr/>
        </p:nvSpPr>
        <p:spPr>
          <a:xfrm>
            <a:off x="6758940" y="4206240"/>
            <a:ext cx="10820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T1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10.7.2.1</a:t>
            </a:r>
            <a:endParaRPr lang="en-US" sz="1300" dirty="0"/>
          </a:p>
        </p:txBody>
      </p:sp>
      <p:sp>
        <p:nvSpPr>
          <p:cNvPr id="36" name="nsx-lm2-t1-seg-2"/>
          <p:cNvSpPr/>
          <p:nvPr/>
        </p:nvSpPr>
        <p:spPr>
          <a:xfrm>
            <a:off x="7299960" y="4754880"/>
            <a:ext cx="0" cy="182880"/>
          </a:xfrm>
          <a:prstGeom prst="line">
            <a:avLst/>
          </a:prstGeom>
          <a:noFill/>
          <a:ln w="19050">
            <a:solidFill>
              <a:srgbClr val="C9D3DE"/>
            </a:solidFill>
            <a:prstDash val="solid"/>
          </a:ln>
        </p:spPr>
      </p:sp>
      <p:sp>
        <p:nvSpPr>
          <p:cNvPr id="37" name="nsx-lm2-seg-2"/>
          <p:cNvSpPr/>
          <p:nvPr/>
        </p:nvSpPr>
        <p:spPr>
          <a:xfrm>
            <a:off x="6758940" y="4937760"/>
            <a:ext cx="1082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10.7.2.0/24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VLAN 720</a:t>
            </a:r>
            <a:endParaRPr lang="en-US" sz="1300" dirty="0"/>
          </a:p>
        </p:txBody>
      </p:sp>
      <p:sp>
        <p:nvSpPr>
          <p:cNvPr id="38" name="nsx-lm2-footer"/>
          <p:cNvSpPr txBox="1"/>
          <p:nvPr/>
        </p:nvSpPr>
        <p:spPr>
          <a:xfrm>
            <a:off x="4320540" y="56692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nsx-lm2  |  vcenter2  |  vsphere13 / vsphere14</a:t>
            </a:r>
            <a:endParaRPr lang="en-US" sz="1200" dirty="0"/>
          </a:p>
        </p:txBody>
      </p:sp>
      <p:sp>
        <p:nvSpPr>
          <p:cNvPr id="39" name="nsx-lm3-uplink"/>
          <p:cNvSpPr/>
          <p:nvPr/>
        </p:nvSpPr>
        <p:spPr>
          <a:xfrm>
            <a:off x="9852660" y="2743200"/>
            <a:ext cx="0" cy="320040"/>
          </a:xfrm>
          <a:prstGeom prst="line">
            <a:avLst/>
          </a:prstGeom>
          <a:noFill/>
          <a:ln w="19050">
            <a:solidFill>
              <a:srgbClr val="C9D3DE"/>
            </a:solidFill>
            <a:prstDash val="solid"/>
          </a:ln>
        </p:spPr>
      </p:sp>
      <p:sp>
        <p:nvSpPr>
          <p:cNvPr id="40" name="nsx-lm3-t0"/>
          <p:cNvSpPr/>
          <p:nvPr/>
        </p:nvSpPr>
        <p:spPr>
          <a:xfrm>
            <a:off x="8092440" y="3063240"/>
            <a:ext cx="3520440" cy="868680"/>
          </a:xfrm>
          <a:prstGeom prst="roundRect">
            <a:avLst>
              <a:gd name="adj" fmla="val 8421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t0-gateway-3  |  AS 65113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uplinks 10.5.0.15 / .16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edge5 + edge6 (SMALL)</a:t>
            </a:r>
            <a:endParaRPr lang="en-US" sz="1300" dirty="0"/>
          </a:p>
        </p:txBody>
      </p:sp>
      <p:sp>
        <p:nvSpPr>
          <p:cNvPr id="41" name="nsx-lm3-t0-t1-0"/>
          <p:cNvSpPr/>
          <p:nvPr/>
        </p:nvSpPr>
        <p:spPr>
          <a:xfrm>
            <a:off x="8633460" y="3931920"/>
            <a:ext cx="0" cy="274320"/>
          </a:xfrm>
          <a:prstGeom prst="line">
            <a:avLst/>
          </a:prstGeom>
          <a:noFill/>
          <a:ln w="19050">
            <a:solidFill>
              <a:srgbClr val="27965B"/>
            </a:solidFill>
            <a:prstDash val="solid"/>
          </a:ln>
        </p:spPr>
      </p:sp>
      <p:sp>
        <p:nvSpPr>
          <p:cNvPr id="42" name="nsx-lm3-t1-0"/>
          <p:cNvSpPr/>
          <p:nvPr/>
        </p:nvSpPr>
        <p:spPr>
          <a:xfrm>
            <a:off x="8092440" y="4206240"/>
            <a:ext cx="10820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T1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10.8.0.1</a:t>
            </a:r>
            <a:endParaRPr lang="en-US" sz="1300" dirty="0"/>
          </a:p>
        </p:txBody>
      </p:sp>
      <p:sp>
        <p:nvSpPr>
          <p:cNvPr id="43" name="nsx-lm3-t1-seg-0"/>
          <p:cNvSpPr/>
          <p:nvPr/>
        </p:nvSpPr>
        <p:spPr>
          <a:xfrm>
            <a:off x="8633460" y="4754880"/>
            <a:ext cx="0" cy="182880"/>
          </a:xfrm>
          <a:prstGeom prst="line">
            <a:avLst/>
          </a:prstGeom>
          <a:noFill/>
          <a:ln w="19050">
            <a:solidFill>
              <a:srgbClr val="C9D3DE"/>
            </a:solidFill>
            <a:prstDash val="solid"/>
          </a:ln>
        </p:spPr>
      </p:sp>
      <p:sp>
        <p:nvSpPr>
          <p:cNvPr id="44" name="nsx-lm3-seg-0"/>
          <p:cNvSpPr/>
          <p:nvPr/>
        </p:nvSpPr>
        <p:spPr>
          <a:xfrm>
            <a:off x="8092440" y="4937760"/>
            <a:ext cx="1082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10.8.0.0/24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VLAN 800</a:t>
            </a:r>
            <a:endParaRPr lang="en-US" sz="1300" dirty="0"/>
          </a:p>
        </p:txBody>
      </p:sp>
      <p:sp>
        <p:nvSpPr>
          <p:cNvPr id="45" name="nsx-lm3-t0-t1-1"/>
          <p:cNvSpPr/>
          <p:nvPr/>
        </p:nvSpPr>
        <p:spPr>
          <a:xfrm>
            <a:off x="9852660" y="3931920"/>
            <a:ext cx="0" cy="274320"/>
          </a:xfrm>
          <a:prstGeom prst="line">
            <a:avLst/>
          </a:prstGeom>
          <a:noFill/>
          <a:ln w="19050">
            <a:solidFill>
              <a:srgbClr val="27965B"/>
            </a:solidFill>
            <a:prstDash val="solid"/>
          </a:ln>
        </p:spPr>
      </p:sp>
      <p:sp>
        <p:nvSpPr>
          <p:cNvPr id="46" name="nsx-lm3-t1-1"/>
          <p:cNvSpPr/>
          <p:nvPr/>
        </p:nvSpPr>
        <p:spPr>
          <a:xfrm>
            <a:off x="9311640" y="4206240"/>
            <a:ext cx="10820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T1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10.8.1.1</a:t>
            </a:r>
            <a:endParaRPr lang="en-US" sz="1300" dirty="0"/>
          </a:p>
        </p:txBody>
      </p:sp>
      <p:sp>
        <p:nvSpPr>
          <p:cNvPr id="47" name="nsx-lm3-t1-seg-1"/>
          <p:cNvSpPr/>
          <p:nvPr/>
        </p:nvSpPr>
        <p:spPr>
          <a:xfrm>
            <a:off x="9852660" y="4754880"/>
            <a:ext cx="0" cy="182880"/>
          </a:xfrm>
          <a:prstGeom prst="line">
            <a:avLst/>
          </a:prstGeom>
          <a:noFill/>
          <a:ln w="19050">
            <a:solidFill>
              <a:srgbClr val="C9D3DE"/>
            </a:solidFill>
            <a:prstDash val="solid"/>
          </a:ln>
        </p:spPr>
      </p:sp>
      <p:sp>
        <p:nvSpPr>
          <p:cNvPr id="48" name="nsx-lm3-seg-1"/>
          <p:cNvSpPr/>
          <p:nvPr/>
        </p:nvSpPr>
        <p:spPr>
          <a:xfrm>
            <a:off x="9311640" y="4937760"/>
            <a:ext cx="1082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10.8.1.0/24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VLAN 810</a:t>
            </a:r>
            <a:endParaRPr lang="en-US" sz="1300" dirty="0"/>
          </a:p>
        </p:txBody>
      </p:sp>
      <p:sp>
        <p:nvSpPr>
          <p:cNvPr id="49" name="nsx-lm3-t0-t1-2"/>
          <p:cNvSpPr/>
          <p:nvPr/>
        </p:nvSpPr>
        <p:spPr>
          <a:xfrm>
            <a:off x="11071860" y="3931920"/>
            <a:ext cx="0" cy="274320"/>
          </a:xfrm>
          <a:prstGeom prst="line">
            <a:avLst/>
          </a:prstGeom>
          <a:noFill/>
          <a:ln w="19050">
            <a:solidFill>
              <a:srgbClr val="27965B"/>
            </a:solidFill>
            <a:prstDash val="solid"/>
          </a:ln>
        </p:spPr>
      </p:sp>
      <p:sp>
        <p:nvSpPr>
          <p:cNvPr id="50" name="nsx-lm3-t1-2"/>
          <p:cNvSpPr/>
          <p:nvPr/>
        </p:nvSpPr>
        <p:spPr>
          <a:xfrm>
            <a:off x="10530840" y="4206240"/>
            <a:ext cx="1082040" cy="548640"/>
          </a:xfrm>
          <a:prstGeom prst="roundRect">
            <a:avLst>
              <a:gd name="adj" fmla="val 13333"/>
            </a:avLst>
          </a:prstGeom>
          <a:solidFill>
            <a:schemeClr val="bg1"/>
          </a:solidFill>
          <a:ln w="15875">
            <a:solidFill>
              <a:schemeClr val="accent3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T1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10.8.2.1</a:t>
            </a:r>
            <a:endParaRPr lang="en-US" sz="1300" dirty="0"/>
          </a:p>
        </p:txBody>
      </p:sp>
      <p:sp>
        <p:nvSpPr>
          <p:cNvPr id="51" name="nsx-lm3-t1-seg-2"/>
          <p:cNvSpPr/>
          <p:nvPr/>
        </p:nvSpPr>
        <p:spPr>
          <a:xfrm>
            <a:off x="11071860" y="4754880"/>
            <a:ext cx="0" cy="182880"/>
          </a:xfrm>
          <a:prstGeom prst="line">
            <a:avLst/>
          </a:prstGeom>
          <a:noFill/>
          <a:ln w="19050">
            <a:solidFill>
              <a:srgbClr val="C9D3DE"/>
            </a:solidFill>
            <a:prstDash val="solid"/>
          </a:ln>
        </p:spPr>
      </p:sp>
      <p:sp>
        <p:nvSpPr>
          <p:cNvPr id="52" name="nsx-lm3-seg-2"/>
          <p:cNvSpPr/>
          <p:nvPr/>
        </p:nvSpPr>
        <p:spPr>
          <a:xfrm>
            <a:off x="10530840" y="4937760"/>
            <a:ext cx="108204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10.8.2.0/24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VLAN 820</a:t>
            </a:r>
            <a:endParaRPr lang="en-US" sz="1300" dirty="0"/>
          </a:p>
        </p:txBody>
      </p:sp>
      <p:sp>
        <p:nvSpPr>
          <p:cNvPr id="53" name="nsx-lm3-footer"/>
          <p:cNvSpPr txBox="1"/>
          <p:nvPr/>
        </p:nvSpPr>
        <p:spPr>
          <a:xfrm>
            <a:off x="8092440" y="56692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nsx-lm3  |  vcenter3  |  vsphere15 / vsphere16</a:t>
            </a:r>
            <a:endParaRPr lang="en-US" sz="1200" dirty="0"/>
          </a:p>
        </p:txBody>
      </p:sp>
      <p:sp>
        <p:nvSpPr>
          <p:cNvPr id="54" name="topology-legend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Workload segments are VLAN-backed; each gateway is a T1 service interface.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Who manages what</a:t>
            </a:r>
            <a:endParaRPr lang="en-US" sz="3000" dirty="0"/>
          </a:p>
        </p:txBody>
      </p:sp>
      <p:sp>
        <p:nvSpPr>
          <p:cNvPr id="3" name="mgmt-palo-head"/>
          <p:cNvSpPr txBox="1"/>
          <p:nvPr/>
        </p:nvSpPr>
        <p:spPr>
          <a:xfrm>
            <a:off x="5486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Palo Alto</a:t>
            </a:r>
            <a:endParaRPr lang="en-US" sz="2000" dirty="0"/>
          </a:p>
        </p:txBody>
      </p:sp>
      <p:sp>
        <p:nvSpPr>
          <p:cNvPr id="4" name="mgmt-pano1"/>
          <p:cNvSpPr/>
          <p:nvPr/>
        </p:nvSpPr>
        <p:spPr>
          <a:xfrm>
            <a:off x="548640" y="1600200"/>
            <a:ext cx="2194560" cy="1097280"/>
          </a:xfrm>
          <a:prstGeom prst="roundRect">
            <a:avLst>
              <a:gd name="adj" fmla="val 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pano1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10.2.1.31</a:t>
            </a:r>
            <a:endParaRPr lang="en-US" sz="1300" dirty="0"/>
          </a:p>
        </p:txBody>
      </p:sp>
      <p:sp>
        <p:nvSpPr>
          <p:cNvPr id="5" name="mgmt-palo7"/>
          <p:cNvSpPr/>
          <p:nvPr/>
        </p:nvSpPr>
        <p:spPr>
          <a:xfrm>
            <a:off x="3291840" y="1600200"/>
            <a:ext cx="237744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palo7  10.2.1.27</a:t>
            </a:r>
            <a:endParaRPr lang="en-US" sz="1300" dirty="0"/>
          </a:p>
        </p:txBody>
      </p:sp>
      <p:sp>
        <p:nvSpPr>
          <p:cNvPr id="6" name="mgmt-palo8"/>
          <p:cNvSpPr/>
          <p:nvPr/>
        </p:nvSpPr>
        <p:spPr>
          <a:xfrm>
            <a:off x="3291840" y="2194560"/>
            <a:ext cx="2377440" cy="502920"/>
          </a:xfrm>
          <a:prstGeom prst="roundRect">
            <a:avLst>
              <a:gd name="adj" fmla="val 14545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palo8  10.2.1.28</a:t>
            </a:r>
            <a:endParaRPr lang="en-US" sz="1300" dirty="0"/>
          </a:p>
        </p:txBody>
      </p:sp>
      <p:sp>
        <p:nvSpPr>
          <p:cNvPr id="7" name="mgmt-pano1-palo7"/>
          <p:cNvSpPr/>
          <p:nvPr/>
        </p:nvSpPr>
        <p:spPr>
          <a:xfrm>
            <a:off x="2743200" y="1856232"/>
            <a:ext cx="548640" cy="0"/>
          </a:xfrm>
          <a:prstGeom prst="line">
            <a:avLst/>
          </a:prstGeom>
          <a:noFill/>
          <a:ln w="19050">
            <a:solidFill>
              <a:srgbClr val="EB852D"/>
            </a:solidFill>
            <a:prstDash val="solid"/>
          </a:ln>
        </p:spPr>
      </p:sp>
      <p:sp>
        <p:nvSpPr>
          <p:cNvPr id="8" name="mgmt-pano1-palo8"/>
          <p:cNvSpPr/>
          <p:nvPr/>
        </p:nvSpPr>
        <p:spPr>
          <a:xfrm>
            <a:off x="2743200" y="2441448"/>
            <a:ext cx="548640" cy="0"/>
          </a:xfrm>
          <a:prstGeom prst="line">
            <a:avLst/>
          </a:prstGeom>
          <a:noFill/>
          <a:ln w="19050">
            <a:solidFill>
              <a:srgbClr val="EB852D"/>
            </a:solidFill>
            <a:prstDash val="solid"/>
          </a:ln>
        </p:spPr>
      </p:sp>
      <p:sp>
        <p:nvSpPr>
          <p:cNvPr id="9" name="mgmt-peer-note"/>
          <p:cNvSpPr txBox="1"/>
          <p:nvPr/>
        </p:nvSpPr>
        <p:spPr>
          <a:xfrm>
            <a:off x="3291840" y="27889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BGP peers of all three NSX T0s</a:t>
            </a:r>
            <a:endParaRPr lang="en-US" sz="1100" dirty="0"/>
          </a:p>
        </p:txBody>
      </p:sp>
      <p:sp>
        <p:nvSpPr>
          <p:cNvPr id="10" name="mgmt-pano4"/>
          <p:cNvSpPr/>
          <p:nvPr/>
        </p:nvSpPr>
        <p:spPr>
          <a:xfrm>
            <a:off x="548640" y="3246120"/>
            <a:ext cx="219456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pano4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10.2.4.31</a:t>
            </a:r>
            <a:endParaRPr lang="en-US" sz="1300" dirty="0"/>
          </a:p>
        </p:txBody>
      </p:sp>
      <p:sp>
        <p:nvSpPr>
          <p:cNvPr id="11" name="mgmt-pano4-fw-0"/>
          <p:cNvSpPr/>
          <p:nvPr/>
        </p:nvSpPr>
        <p:spPr>
          <a:xfrm>
            <a:off x="3291840" y="3246120"/>
            <a:ext cx="237744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palo3  10.2.1.23</a:t>
            </a:r>
            <a:endParaRPr lang="en-US" sz="1300" dirty="0"/>
          </a:p>
        </p:txBody>
      </p:sp>
      <p:sp>
        <p:nvSpPr>
          <p:cNvPr id="12" name="mgmt-pano4-line-0"/>
          <p:cNvSpPr/>
          <p:nvPr/>
        </p:nvSpPr>
        <p:spPr>
          <a:xfrm>
            <a:off x="2743200" y="3429000"/>
            <a:ext cx="548640" cy="0"/>
          </a:xfrm>
          <a:prstGeom prst="line">
            <a:avLst/>
          </a:prstGeom>
          <a:noFill/>
          <a:ln w="19050">
            <a:solidFill>
              <a:srgbClr val="C9D3DE"/>
            </a:solidFill>
            <a:prstDash val="solid"/>
          </a:ln>
        </p:spPr>
      </p:sp>
      <p:sp>
        <p:nvSpPr>
          <p:cNvPr id="13" name="mgmt-pano4-fw-1"/>
          <p:cNvSpPr/>
          <p:nvPr/>
        </p:nvSpPr>
        <p:spPr>
          <a:xfrm>
            <a:off x="3291840" y="3703320"/>
            <a:ext cx="237744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palo5  10.2.1.25</a:t>
            </a:r>
            <a:endParaRPr lang="en-US" sz="1300" dirty="0"/>
          </a:p>
        </p:txBody>
      </p:sp>
      <p:sp>
        <p:nvSpPr>
          <p:cNvPr id="14" name="mgmt-pano4-line-1"/>
          <p:cNvSpPr/>
          <p:nvPr/>
        </p:nvSpPr>
        <p:spPr>
          <a:xfrm>
            <a:off x="2743200" y="3886200"/>
            <a:ext cx="548640" cy="0"/>
          </a:xfrm>
          <a:prstGeom prst="line">
            <a:avLst/>
          </a:prstGeom>
          <a:noFill/>
          <a:ln w="19050">
            <a:solidFill>
              <a:srgbClr val="C9D3DE"/>
            </a:solidFill>
            <a:prstDash val="solid"/>
          </a:ln>
        </p:spPr>
      </p:sp>
      <p:sp>
        <p:nvSpPr>
          <p:cNvPr id="15" name="mgmt-pano4-fw-2"/>
          <p:cNvSpPr/>
          <p:nvPr/>
        </p:nvSpPr>
        <p:spPr>
          <a:xfrm>
            <a:off x="3291840" y="4160520"/>
            <a:ext cx="2377440" cy="36576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palo6  10.2.1.26</a:t>
            </a:r>
            <a:endParaRPr lang="en-US" sz="1300" dirty="0"/>
          </a:p>
        </p:txBody>
      </p:sp>
      <p:sp>
        <p:nvSpPr>
          <p:cNvPr id="16" name="mgmt-pano4-line-2"/>
          <p:cNvSpPr/>
          <p:nvPr/>
        </p:nvSpPr>
        <p:spPr>
          <a:xfrm>
            <a:off x="2743200" y="4343400"/>
            <a:ext cx="548640" cy="0"/>
          </a:xfrm>
          <a:prstGeom prst="line">
            <a:avLst/>
          </a:prstGeom>
          <a:noFill/>
          <a:ln w="19050">
            <a:solidFill>
              <a:srgbClr val="C9D3DE"/>
            </a:solidFill>
            <a:prstDash val="solid"/>
          </a:ln>
        </p:spPr>
      </p:sp>
      <p:sp>
        <p:nvSpPr>
          <p:cNvPr id="17" name="mgmt-pano4-note"/>
          <p:cNvSpPr txBox="1"/>
          <p:nvPr/>
        </p:nvSpPr>
        <p:spPr>
          <a:xfrm>
            <a:off x="548640" y="46634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Lab tooling Panorama; none of these hold 10.5.0.x</a:t>
            </a:r>
            <a:endParaRPr lang="en-US" sz="1100" dirty="0"/>
          </a:p>
        </p:txBody>
      </p:sp>
      <p:sp>
        <p:nvSpPr>
          <p:cNvPr id="18" name="mgmt-decision"/>
          <p:cNvSpPr/>
          <p:nvPr/>
        </p:nvSpPr>
        <p:spPr>
          <a:xfrm>
            <a:off x="548640" y="5166360"/>
            <a:ext cx="512064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9050">
            <a:solidFill>
              <a:schemeClr val="accent5"/>
            </a:solidFill>
            <a:prstDash val="solid"/>
          </a:ln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Open decision: access path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Direct to palo7 / palo8, or through pano1 (labelled panorama_prod in .env)</a:t>
            </a:r>
            <a:endParaRPr lang="en-US" sz="1300" dirty="0"/>
          </a:p>
        </p:txBody>
      </p:sp>
      <p:sp>
        <p:nvSpPr>
          <p:cNvPr id="19" name="mgmt-nsx-head"/>
          <p:cNvSpPr txBox="1"/>
          <p:nvPr/>
        </p:nvSpPr>
        <p:spPr>
          <a:xfrm>
            <a:off x="6309360" y="11887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NSX</a:t>
            </a:r>
            <a:endParaRPr lang="en-US" sz="2000" dirty="0"/>
          </a:p>
        </p:txBody>
      </p:sp>
      <p:sp>
        <p:nvSpPr>
          <p:cNvPr id="20" name="mgmt-nsx-lm1"/>
          <p:cNvSpPr/>
          <p:nvPr/>
        </p:nvSpPr>
        <p:spPr>
          <a:xfrm>
            <a:off x="6309360" y="173736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nsx-lm1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10.4.0.51</a:t>
            </a:r>
            <a:endParaRPr lang="en-US" sz="1300" dirty="0"/>
          </a:p>
        </p:txBody>
      </p:sp>
      <p:sp>
        <p:nvSpPr>
          <p:cNvPr id="21" name="mgmt-nsx-lm1-vc"/>
          <p:cNvSpPr/>
          <p:nvPr/>
        </p:nvSpPr>
        <p:spPr>
          <a:xfrm>
            <a:off x="8046720" y="2103120"/>
            <a:ext cx="320040" cy="0"/>
          </a:xfrm>
          <a:prstGeom prst="line">
            <a:avLst/>
          </a:prstGeom>
          <a:noFill/>
          <a:ln w="19050">
            <a:solidFill>
              <a:srgbClr val="C9D3DE"/>
            </a:solidFill>
            <a:prstDash val="solid"/>
          </a:ln>
        </p:spPr>
      </p:sp>
      <p:sp>
        <p:nvSpPr>
          <p:cNvPr id="22" name="mgmt-vcenter1"/>
          <p:cNvSpPr/>
          <p:nvPr/>
        </p:nvSpPr>
        <p:spPr>
          <a:xfrm>
            <a:off x="8366760" y="173736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vcenter1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10.2.2.111</a:t>
            </a:r>
            <a:endParaRPr lang="en-US" sz="1300" dirty="0"/>
          </a:p>
        </p:txBody>
      </p:sp>
      <p:sp>
        <p:nvSpPr>
          <p:cNvPr id="23" name="mgmt-vcenter1-hosts"/>
          <p:cNvSpPr/>
          <p:nvPr/>
        </p:nvSpPr>
        <p:spPr>
          <a:xfrm>
            <a:off x="9829800" y="2103120"/>
            <a:ext cx="274320" cy="0"/>
          </a:xfrm>
          <a:prstGeom prst="line">
            <a:avLst/>
          </a:prstGeom>
          <a:noFill/>
          <a:ln w="19050">
            <a:solidFill>
              <a:srgbClr val="C9D3DE"/>
            </a:solidFill>
            <a:prstDash val="solid"/>
          </a:ln>
        </p:spPr>
      </p:sp>
      <p:sp>
        <p:nvSpPr>
          <p:cNvPr id="24" name="mgmt-nsx-lm1-hosts"/>
          <p:cNvSpPr/>
          <p:nvPr/>
        </p:nvSpPr>
        <p:spPr>
          <a:xfrm>
            <a:off x="10104120" y="1737360"/>
            <a:ext cx="15087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vsphere11 + vsphere12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nested ESXi, 32 GB</a:t>
            </a:r>
            <a:endParaRPr lang="en-US" sz="1300" dirty="0"/>
          </a:p>
        </p:txBody>
      </p:sp>
      <p:sp>
        <p:nvSpPr>
          <p:cNvPr id="25" name="mgmt-nsx-lm2"/>
          <p:cNvSpPr/>
          <p:nvPr/>
        </p:nvSpPr>
        <p:spPr>
          <a:xfrm>
            <a:off x="6309360" y="320040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nsx-lm2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10.4.0.52</a:t>
            </a:r>
            <a:endParaRPr lang="en-US" sz="1300" dirty="0"/>
          </a:p>
        </p:txBody>
      </p:sp>
      <p:sp>
        <p:nvSpPr>
          <p:cNvPr id="26" name="mgmt-nsx-lm2-vc"/>
          <p:cNvSpPr/>
          <p:nvPr/>
        </p:nvSpPr>
        <p:spPr>
          <a:xfrm>
            <a:off x="8046720" y="3566160"/>
            <a:ext cx="320040" cy="0"/>
          </a:xfrm>
          <a:prstGeom prst="line">
            <a:avLst/>
          </a:prstGeom>
          <a:noFill/>
          <a:ln w="19050">
            <a:solidFill>
              <a:srgbClr val="C9D3DE"/>
            </a:solidFill>
            <a:prstDash val="solid"/>
          </a:ln>
        </p:spPr>
      </p:sp>
      <p:sp>
        <p:nvSpPr>
          <p:cNvPr id="27" name="mgmt-vcenter2"/>
          <p:cNvSpPr/>
          <p:nvPr/>
        </p:nvSpPr>
        <p:spPr>
          <a:xfrm>
            <a:off x="8366760" y="320040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vcenter2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10.2.2.112</a:t>
            </a:r>
            <a:endParaRPr lang="en-US" sz="1300" dirty="0"/>
          </a:p>
        </p:txBody>
      </p:sp>
      <p:sp>
        <p:nvSpPr>
          <p:cNvPr id="28" name="mgmt-vcenter2-hosts"/>
          <p:cNvSpPr/>
          <p:nvPr/>
        </p:nvSpPr>
        <p:spPr>
          <a:xfrm>
            <a:off x="9829800" y="3566160"/>
            <a:ext cx="274320" cy="0"/>
          </a:xfrm>
          <a:prstGeom prst="line">
            <a:avLst/>
          </a:prstGeom>
          <a:noFill/>
          <a:ln w="19050">
            <a:solidFill>
              <a:srgbClr val="C9D3DE"/>
            </a:solidFill>
            <a:prstDash val="solid"/>
          </a:ln>
        </p:spPr>
      </p:sp>
      <p:sp>
        <p:nvSpPr>
          <p:cNvPr id="29" name="mgmt-nsx-lm2-hosts"/>
          <p:cNvSpPr/>
          <p:nvPr/>
        </p:nvSpPr>
        <p:spPr>
          <a:xfrm>
            <a:off x="10104120" y="3200400"/>
            <a:ext cx="15087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vsphere13 + vsphere14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nested ESXi, 32 GB</a:t>
            </a:r>
            <a:endParaRPr lang="en-US" sz="1300" dirty="0"/>
          </a:p>
        </p:txBody>
      </p:sp>
      <p:sp>
        <p:nvSpPr>
          <p:cNvPr id="30" name="mgmt-nsx-lm3"/>
          <p:cNvSpPr/>
          <p:nvPr/>
        </p:nvSpPr>
        <p:spPr>
          <a:xfrm>
            <a:off x="6309360" y="4663440"/>
            <a:ext cx="1737360" cy="731520"/>
          </a:xfrm>
          <a:prstGeom prst="roundRect">
            <a:avLst>
              <a:gd name="adj" fmla="val 1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nsx-lm3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10.4.0.53</a:t>
            </a:r>
            <a:endParaRPr lang="en-US" sz="1300" dirty="0"/>
          </a:p>
        </p:txBody>
      </p:sp>
      <p:sp>
        <p:nvSpPr>
          <p:cNvPr id="31" name="mgmt-nsx-lm3-vc"/>
          <p:cNvSpPr/>
          <p:nvPr/>
        </p:nvSpPr>
        <p:spPr>
          <a:xfrm>
            <a:off x="8046720" y="5029200"/>
            <a:ext cx="320040" cy="0"/>
          </a:xfrm>
          <a:prstGeom prst="line">
            <a:avLst/>
          </a:prstGeom>
          <a:noFill/>
          <a:ln w="19050">
            <a:solidFill>
              <a:srgbClr val="C9D3DE"/>
            </a:solidFill>
            <a:prstDash val="solid"/>
          </a:ln>
        </p:spPr>
      </p:sp>
      <p:sp>
        <p:nvSpPr>
          <p:cNvPr id="32" name="mgmt-vcenter3"/>
          <p:cNvSpPr/>
          <p:nvPr/>
        </p:nvSpPr>
        <p:spPr>
          <a:xfrm>
            <a:off x="8366760" y="4663440"/>
            <a:ext cx="146304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vcenter3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10.2.2.113</a:t>
            </a:r>
            <a:endParaRPr lang="en-US" sz="1300" dirty="0"/>
          </a:p>
        </p:txBody>
      </p:sp>
      <p:sp>
        <p:nvSpPr>
          <p:cNvPr id="33" name="mgmt-vcenter3-hosts"/>
          <p:cNvSpPr/>
          <p:nvPr/>
        </p:nvSpPr>
        <p:spPr>
          <a:xfrm>
            <a:off x="9829800" y="5029200"/>
            <a:ext cx="274320" cy="0"/>
          </a:xfrm>
          <a:prstGeom prst="line">
            <a:avLst/>
          </a:prstGeom>
          <a:noFill/>
          <a:ln w="19050">
            <a:solidFill>
              <a:srgbClr val="C9D3DE"/>
            </a:solidFill>
            <a:prstDash val="solid"/>
          </a:ln>
        </p:spPr>
      </p:sp>
      <p:sp>
        <p:nvSpPr>
          <p:cNvPr id="34" name="mgmt-nsx-lm3-hosts"/>
          <p:cNvSpPr/>
          <p:nvPr/>
        </p:nvSpPr>
        <p:spPr>
          <a:xfrm>
            <a:off x="10104120" y="4663440"/>
            <a:ext cx="1508760" cy="73152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vsphere15 + vsphere16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nested ESXi, 32 GB</a:t>
            </a:r>
            <a:endParaRPr lang="en-US" sz="1300" dirty="0"/>
          </a:p>
        </p:txBody>
      </p:sp>
      <p:sp>
        <p:nvSpPr>
          <p:cNvPr id="35" name="mgmt-nsx-note"/>
          <p:cNvSpPr txBox="1"/>
          <p:nvPr/>
        </p:nvSpPr>
        <p:spPr>
          <a:xfrm>
            <a:off x="6309360" y="5989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chemeClr val="tx2"/>
                </a:solidFill>
              </a:rPr>
              <a:t>All NSX 3.2.2, vCenter 7.0.3; hosts and edges share management 10.2.2.0/24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Addressing follows the manager number</a:t>
            </a:r>
            <a:endParaRPr lang="en-US" sz="3000" dirty="0"/>
          </a:p>
        </p:txBody>
      </p:sp>
      <p:graphicFrame>
        <p:nvGraphicFramePr>
          <p:cNvPr id="5" name="addressing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6766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554480"/>
                <a:gridCol w="1554480"/>
                <a:gridCol w="155448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nsx-lm1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nsx-lm2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nsx-lm3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Workload /16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10.6.0.0/16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10.7.0.0/16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10.8.0.0/16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Segment VLANs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600 / 610 / 620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700 / 710 / 720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800 / 810 / 820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T0 AS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65111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65112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65113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T0 uplinks (VLAN 500)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10.5.0.11 / .12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10.5.0.13 / .14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10.5.0.15 / .16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Edge management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10.2.2.51 / .52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10.2.2.53 / .54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10.2.2.55 / .56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TEP range (VLAN 510)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10.5.1.101 to .200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10.5.1.151 to .200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10.5.1.171 to .200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p-head"/>
          <p:cNvSpPr txBox="1"/>
          <p:nvPr/>
        </p:nvSpPr>
        <p:spPr>
          <a:xfrm>
            <a:off x="7772400" y="1188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Tunnel IP ranges overlap in 10.5.1.0/24</a:t>
            </a:r>
            <a:endParaRPr lang="en-US" sz="1600" dirty="0"/>
          </a:p>
        </p:txBody>
      </p:sp>
      <p:sp>
        <p:nvSpPr>
          <p:cNvPr id="5" name="tep-nsx-lm1-label"/>
          <p:cNvSpPr txBox="1"/>
          <p:nvPr/>
        </p:nvSpPr>
        <p:spPr>
          <a:xfrm>
            <a:off x="7772400" y="1874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nsx-lm1  .101 to .200</a:t>
            </a:r>
            <a:endParaRPr lang="en-US" sz="1100" dirty="0"/>
          </a:p>
        </p:txBody>
      </p:sp>
      <p:sp>
        <p:nvSpPr>
          <p:cNvPr id="6" name="tep-nsx-lm1-bar"/>
          <p:cNvSpPr/>
          <p:nvPr/>
        </p:nvSpPr>
        <p:spPr>
          <a:xfrm>
            <a:off x="7798003" y="2130552"/>
            <a:ext cx="2534717" cy="228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p-nsx-lm2-label"/>
          <p:cNvSpPr txBox="1"/>
          <p:nvPr/>
        </p:nvSpPr>
        <p:spPr>
          <a:xfrm>
            <a:off x="7772400" y="25603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nsx-lm2  .151 to .200</a:t>
            </a:r>
            <a:endParaRPr lang="en-US" sz="1100" dirty="0"/>
          </a:p>
        </p:txBody>
      </p:sp>
      <p:sp>
        <p:nvSpPr>
          <p:cNvPr id="8" name="tep-nsx-lm2-bar"/>
          <p:cNvSpPr/>
          <p:nvPr/>
        </p:nvSpPr>
        <p:spPr>
          <a:xfrm>
            <a:off x="9078163" y="2816352"/>
            <a:ext cx="1254557" cy="2286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tep-nsx-lm3-label"/>
          <p:cNvSpPr txBox="1"/>
          <p:nvPr/>
        </p:nvSpPr>
        <p:spPr>
          <a:xfrm>
            <a:off x="7772400" y="32461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nsx-lm3  .171 to .200</a:t>
            </a:r>
            <a:endParaRPr lang="en-US" sz="1100" dirty="0"/>
          </a:p>
        </p:txBody>
      </p:sp>
      <p:sp>
        <p:nvSpPr>
          <p:cNvPr id="10" name="tep-nsx-lm3-bar"/>
          <p:cNvSpPr/>
          <p:nvPr/>
        </p:nvSpPr>
        <p:spPr>
          <a:xfrm>
            <a:off x="9590227" y="3502152"/>
            <a:ext cx="742493" cy="228600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p-tick-100"/>
          <p:cNvSpPr/>
          <p:nvPr/>
        </p:nvSpPr>
        <p:spPr>
          <a:xfrm>
            <a:off x="7772400" y="3886200"/>
            <a:ext cx="0" cy="109728"/>
          </a:xfrm>
          <a:prstGeom prst="line">
            <a:avLst/>
          </a:prstGeom>
          <a:noFill/>
          <a:ln w="12700">
            <a:solidFill>
              <a:srgbClr val="5C6C7E"/>
            </a:solidFill>
            <a:prstDash val="solid"/>
          </a:ln>
        </p:spPr>
      </p:sp>
      <p:sp>
        <p:nvSpPr>
          <p:cNvPr id="12" name="tep-tick-label-100"/>
          <p:cNvSpPr txBox="1"/>
          <p:nvPr/>
        </p:nvSpPr>
        <p:spPr>
          <a:xfrm>
            <a:off x="7498080" y="4023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.100</a:t>
            </a:r>
            <a:endParaRPr lang="en-US" sz="1000" dirty="0"/>
          </a:p>
        </p:txBody>
      </p:sp>
      <p:sp>
        <p:nvSpPr>
          <p:cNvPr id="13" name="tep-tick-150"/>
          <p:cNvSpPr/>
          <p:nvPr/>
        </p:nvSpPr>
        <p:spPr>
          <a:xfrm>
            <a:off x="9052560" y="3886200"/>
            <a:ext cx="0" cy="109728"/>
          </a:xfrm>
          <a:prstGeom prst="line">
            <a:avLst/>
          </a:prstGeom>
          <a:noFill/>
          <a:ln w="12700">
            <a:solidFill>
              <a:srgbClr val="5C6C7E"/>
            </a:solidFill>
            <a:prstDash val="solid"/>
          </a:ln>
        </p:spPr>
      </p:sp>
      <p:sp>
        <p:nvSpPr>
          <p:cNvPr id="14" name="tep-tick-label-150"/>
          <p:cNvSpPr txBox="1"/>
          <p:nvPr/>
        </p:nvSpPr>
        <p:spPr>
          <a:xfrm>
            <a:off x="8778240" y="4023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.150</a:t>
            </a:r>
            <a:endParaRPr lang="en-US" sz="1000" dirty="0"/>
          </a:p>
        </p:txBody>
      </p:sp>
      <p:sp>
        <p:nvSpPr>
          <p:cNvPr id="15" name="tep-tick-200"/>
          <p:cNvSpPr/>
          <p:nvPr/>
        </p:nvSpPr>
        <p:spPr>
          <a:xfrm>
            <a:off x="10332720" y="3886200"/>
            <a:ext cx="0" cy="109728"/>
          </a:xfrm>
          <a:prstGeom prst="line">
            <a:avLst/>
          </a:prstGeom>
          <a:noFill/>
          <a:ln w="12700">
            <a:solidFill>
              <a:srgbClr val="5C6C7E"/>
            </a:solidFill>
            <a:prstDash val="solid"/>
          </a:ln>
        </p:spPr>
      </p:sp>
      <p:sp>
        <p:nvSpPr>
          <p:cNvPr id="16" name="tep-tick-label-200"/>
          <p:cNvSpPr txBox="1"/>
          <p:nvPr/>
        </p:nvSpPr>
        <p:spPr>
          <a:xfrm>
            <a:off x="10058400" y="4023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.200</a:t>
            </a:r>
            <a:endParaRPr lang="en-US" sz="1000" dirty="0"/>
          </a:p>
        </p:txBody>
      </p:sp>
      <p:sp>
        <p:nvSpPr>
          <p:cNvPr id="17" name="tep-tick-250"/>
          <p:cNvSpPr/>
          <p:nvPr/>
        </p:nvSpPr>
        <p:spPr>
          <a:xfrm>
            <a:off x="11612880" y="3886200"/>
            <a:ext cx="0" cy="109728"/>
          </a:xfrm>
          <a:prstGeom prst="line">
            <a:avLst/>
          </a:prstGeom>
          <a:noFill/>
          <a:ln w="12700">
            <a:solidFill>
              <a:srgbClr val="5C6C7E"/>
            </a:solidFill>
            <a:prstDash val="solid"/>
          </a:ln>
        </p:spPr>
      </p:sp>
      <p:sp>
        <p:nvSpPr>
          <p:cNvPr id="18" name="tep-tick-label-250"/>
          <p:cNvSpPr txBox="1"/>
          <p:nvPr/>
        </p:nvSpPr>
        <p:spPr>
          <a:xfrm>
            <a:off x="11338560" y="40233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.250</a:t>
            </a:r>
            <a:endParaRPr lang="en-US" sz="1000" dirty="0"/>
          </a:p>
        </p:txBody>
      </p:sp>
      <p:sp>
        <p:nvSpPr>
          <p:cNvPr id="19" name="tep-note"/>
          <p:cNvSpPr/>
          <p:nvPr/>
        </p:nvSpPr>
        <p:spPr>
          <a:xfrm>
            <a:off x="7772400" y="4480560"/>
            <a:ext cx="3840480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  <p:txBody>
          <a:bodyPr wrap="square" lIns="1905" tIns="1905" rIns="1905" bIns="1905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collision today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In use: lm1 .101-.106, lm2 .151-.156, lm3 .171-.174. Kept as is (2026-10-04). If it ever bites: shrink lm1 to .101-.150 and lm2 to .151-.170.</a:t>
            </a:r>
            <a:endParaRPr lang="en-US" sz="1300" dirty="0"/>
          </a:p>
        </p:txBody>
      </p:sp>
      <p:sp>
        <p:nvSpPr>
          <p:cNvPr id="20" name="addr-shared"/>
          <p:cNvSpPr txBox="1"/>
          <p:nvPr/>
        </p:nvSpPr>
        <p:spPr>
          <a:xfrm>
            <a:off x="548640" y="4480560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Shared by all three: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management 10.2.2.0/24  |  managers 10.4.0.0/24  |  DNS 10.3.0.151 / .152  |  NTP ntp1, ntp2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Firewall config flows lm1 to lm2 to lm3</a:t>
            </a:r>
            <a:endParaRPr lang="en-US" sz="3000" dirty="0"/>
          </a:p>
        </p:txBody>
      </p:sp>
      <p:sp>
        <p:nvSpPr>
          <p:cNvPr id="3" name="flow-nsx-lm1"/>
          <p:cNvSpPr/>
          <p:nvPr/>
        </p:nvSpPr>
        <p:spPr>
          <a:xfrm>
            <a:off x="822960" y="1600200"/>
            <a:ext cx="2743200" cy="1371600"/>
          </a:xfrm>
          <a:prstGeom prst="roundRect">
            <a:avLst>
              <a:gd name="adj" fmla="val 5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nsx-lm1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Source of truth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32 groups | 10 services | 5 policies</a:t>
            </a:r>
            <a:endParaRPr lang="en-US" sz="1300" dirty="0"/>
          </a:p>
        </p:txBody>
      </p:sp>
      <p:sp>
        <p:nvSpPr>
          <p:cNvPr id="4" name="flow-nsx-lm2"/>
          <p:cNvSpPr/>
          <p:nvPr/>
        </p:nvSpPr>
        <p:spPr>
          <a:xfrm>
            <a:off x="4727448" y="1600200"/>
            <a:ext cx="2743200" cy="1371600"/>
          </a:xfrm>
          <a:prstGeom prst="roundRect">
            <a:avLst>
              <a:gd name="adj" fmla="val 5333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nsx-lm2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lm1 + Workflow A and C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48 groups incl. 16 _np_ips siblings</a:t>
            </a:r>
            <a:endParaRPr lang="en-US" sz="1300" dirty="0"/>
          </a:p>
        </p:txBody>
      </p:sp>
      <p:sp>
        <p:nvSpPr>
          <p:cNvPr id="5" name="flow-nsx-lm3"/>
          <p:cNvSpPr/>
          <p:nvPr/>
        </p:nvSpPr>
        <p:spPr>
          <a:xfrm>
            <a:off x="8631936" y="1600200"/>
            <a:ext cx="2743200" cy="1371600"/>
          </a:xfrm>
          <a:prstGeom prst="roundRect">
            <a:avLst>
              <a:gd name="adj" fmla="val 5333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nsx-lm3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Copy of lm2, field for field</a:t>
            </a:r>
            <a:endParaRPr lang="en-US" sz="13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48 groups | 31 rules | verified</a:t>
            </a:r>
            <a:endParaRPr lang="en-US" sz="1300" dirty="0"/>
          </a:p>
        </p:txBody>
      </p:sp>
      <p:sp>
        <p:nvSpPr>
          <p:cNvPr id="6" name="flow-1-2"/>
          <p:cNvSpPr/>
          <p:nvPr/>
        </p:nvSpPr>
        <p:spPr>
          <a:xfrm>
            <a:off x="3566160" y="2286000"/>
            <a:ext cx="1161288" cy="0"/>
          </a:xfrm>
          <a:prstGeom prst="line">
            <a:avLst/>
          </a:prstGeom>
          <a:noFill/>
          <a:ln w="25400">
            <a:solidFill>
              <a:srgbClr val="11233E"/>
            </a:solidFill>
            <a:prstDash val="solid"/>
            <a:tailEnd type="triangle"/>
          </a:ln>
        </p:spPr>
      </p:sp>
      <p:sp>
        <p:nvSpPr>
          <p:cNvPr id="7" name="flow-1-2-label"/>
          <p:cNvSpPr txBox="1"/>
          <p:nvPr/>
        </p:nvSpPr>
        <p:spPr>
          <a:xfrm>
            <a:off x="3566160" y="1554480"/>
            <a:ext cx="1161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 + 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2026-10-02</a:t>
            </a:r>
            <a:endParaRPr lang="en-US" sz="1200" dirty="0"/>
          </a:p>
        </p:txBody>
      </p:sp>
      <p:sp>
        <p:nvSpPr>
          <p:cNvPr id="8" name="flow-2-3"/>
          <p:cNvSpPr/>
          <p:nvPr/>
        </p:nvSpPr>
        <p:spPr>
          <a:xfrm>
            <a:off x="7470648" y="2286000"/>
            <a:ext cx="1161288" cy="0"/>
          </a:xfrm>
          <a:prstGeom prst="line">
            <a:avLst/>
          </a:prstGeom>
          <a:noFill/>
          <a:ln w="25400">
            <a:solidFill>
              <a:srgbClr val="11233E"/>
            </a:solidFill>
            <a:prstDash val="solid"/>
            <a:tailEnd type="triangle"/>
          </a:ln>
        </p:spPr>
      </p:sp>
      <p:sp>
        <p:nvSpPr>
          <p:cNvPr id="9" name="flow-2-3-label"/>
          <p:cNvSpPr txBox="1"/>
          <p:nvPr/>
        </p:nvSpPr>
        <p:spPr>
          <a:xfrm>
            <a:off x="7470648" y="1554480"/>
            <a:ext cx="11612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A (duplicate)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2026-10-06</a:t>
            </a:r>
            <a:endParaRPr lang="en-US" sz="1200" dirty="0"/>
          </a:p>
        </p:txBody>
      </p:sp>
      <p:sp>
        <p:nvSpPr>
          <p:cNvPr id="10" name="flow-update-down1"/>
          <p:cNvSpPr/>
          <p:nvPr/>
        </p:nvSpPr>
        <p:spPr>
          <a:xfrm>
            <a:off x="2194560" y="2971800"/>
            <a:ext cx="0" cy="640080"/>
          </a:xfrm>
          <a:prstGeom prst="line">
            <a:avLst/>
          </a:prstGeom>
          <a:noFill/>
          <a:ln w="25400">
            <a:solidFill>
              <a:srgbClr val="27965B"/>
            </a:solidFill>
            <a:prstDash val="dash"/>
          </a:ln>
        </p:spPr>
      </p:sp>
      <p:sp>
        <p:nvSpPr>
          <p:cNvPr id="11" name="flow-update-across"/>
          <p:cNvSpPr/>
          <p:nvPr/>
        </p:nvSpPr>
        <p:spPr>
          <a:xfrm>
            <a:off x="2194560" y="3611880"/>
            <a:ext cx="7808976" cy="0"/>
          </a:xfrm>
          <a:prstGeom prst="line">
            <a:avLst/>
          </a:prstGeom>
          <a:noFill/>
          <a:ln w="25400">
            <a:solidFill>
              <a:srgbClr val="27965B"/>
            </a:solidFill>
            <a:prstDash val="dash"/>
          </a:ln>
        </p:spPr>
      </p:sp>
      <p:sp>
        <p:nvSpPr>
          <p:cNvPr id="12" name="flow-update-up3"/>
          <p:cNvSpPr/>
          <p:nvPr/>
        </p:nvSpPr>
        <p:spPr>
          <a:xfrm>
            <a:off x="10003536" y="2971800"/>
            <a:ext cx="0" cy="640080"/>
          </a:xfrm>
          <a:prstGeom prst="line">
            <a:avLst/>
          </a:prstGeom>
          <a:noFill/>
          <a:ln w="25400">
            <a:solidFill>
              <a:srgbClr val="27965B"/>
            </a:solidFill>
            <a:prstDash val="dash"/>
            <a:headEnd type="triangle"/>
          </a:ln>
        </p:spPr>
      </p:sp>
      <p:sp>
        <p:nvSpPr>
          <p:cNvPr id="13" name="flow-update-label"/>
          <p:cNvSpPr txBox="1"/>
          <p:nvPr/>
        </p:nvSpPr>
        <p:spPr>
          <a:xfrm>
            <a:off x="2377440" y="37216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Ongoing updates: A then C from lm1, dry run first. IPs are only ever added; sibling references survive a rerun.</a:t>
            </a:r>
            <a:endParaRPr lang="en-US" sz="1300" dirty="0"/>
          </a:p>
        </p:txBody>
      </p:sp>
      <p:sp>
        <p:nvSpPr>
          <p:cNvPr id="14" name="flow-ids"/>
          <p:cNvSpPr txBox="1"/>
          <p:nvPr/>
        </p:nvSpPr>
        <p:spPr>
          <a:xfrm>
            <a:off x="822960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Object ids are identical on all three managers by design: each manager is its own namespace, and matching ids let reruns update in place.</a:t>
            </a:r>
            <a:endParaRPr lang="en-US" sz="1200" dirty="0"/>
          </a:p>
        </p:txBody>
      </p:sp>
      <p:sp>
        <p:nvSpPr>
          <p:cNvPr id="15" name="flow-runbook"/>
          <p:cNvSpPr txBox="1"/>
          <p:nvPr/>
        </p:nvSpPr>
        <p:spPr>
          <a:xfrm>
            <a:off x="822960" y="50292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Run card: docs/nsx/RUN_AC_LM3.md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Known quirks and open items</a:t>
            </a:r>
            <a:endParaRPr lang="en-US" sz="3000" dirty="0"/>
          </a:p>
        </p:txBody>
      </p:sp>
      <p:sp>
        <p:nvSpPr>
          <p:cNvPr id="3" name="item-0-tag"/>
          <p:cNvSpPr/>
          <p:nvPr/>
        </p:nvSpPr>
        <p:spPr>
          <a:xfrm>
            <a:off x="548640" y="1188720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Open</a:t>
            </a:r>
            <a:endParaRPr lang="en-US" sz="1300" dirty="0"/>
          </a:p>
        </p:txBody>
      </p:sp>
      <p:sp>
        <p:nvSpPr>
          <p:cNvPr id="4" name="item-0-head"/>
          <p:cNvSpPr txBox="1"/>
          <p:nvPr/>
        </p:nvSpPr>
        <p:spPr>
          <a:xfrm>
            <a:off x="2194560" y="117043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Palo access path</a:t>
            </a:r>
            <a:endParaRPr lang="en-US" sz="1800" dirty="0"/>
          </a:p>
        </p:txBody>
      </p:sp>
      <p:sp>
        <p:nvSpPr>
          <p:cNvPr id="5" name="item-0-desc"/>
          <p:cNvSpPr txBox="1"/>
          <p:nvPr/>
        </p:nvSpPr>
        <p:spPr>
          <a:xfrm>
            <a:off x="2194560" y="1572768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Direct to palo7 / palo8, or through pano1. Lab PAN tooling is bound to pano4 today.</a:t>
            </a:r>
            <a:endParaRPr lang="en-US" sz="1400" dirty="0"/>
          </a:p>
        </p:txBody>
      </p:sp>
      <p:sp>
        <p:nvSpPr>
          <p:cNvPr id="6" name="item-1-tag"/>
          <p:cNvSpPr/>
          <p:nvPr/>
        </p:nvSpPr>
        <p:spPr>
          <a:xfrm>
            <a:off x="548640" y="2176272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Accepted</a:t>
            </a:r>
            <a:endParaRPr lang="en-US" sz="1300" dirty="0"/>
          </a:p>
        </p:txBody>
      </p:sp>
      <p:sp>
        <p:nvSpPr>
          <p:cNvPr id="7" name="item-1-head"/>
          <p:cNvSpPr txBox="1"/>
          <p:nvPr/>
        </p:nvSpPr>
        <p:spPr>
          <a:xfrm>
            <a:off x="2194560" y="215798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Tunnel IP ranges overlap</a:t>
            </a:r>
            <a:endParaRPr lang="en-US" sz="1800" dirty="0"/>
          </a:p>
        </p:txBody>
      </p:sp>
      <p:sp>
        <p:nvSpPr>
          <p:cNvPr id="8" name="item-1-desc"/>
          <p:cNvSpPr txBox="1"/>
          <p:nvPr/>
        </p:nvSpPr>
        <p:spPr>
          <a:xfrm>
            <a:off x="2194560" y="256032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lm1 .101-.200 contains lm2 .151-.200 contains lm3 .171-.200. No address shared today; kept as is 2026-10-04.</a:t>
            </a:r>
            <a:endParaRPr lang="en-US" sz="1400" dirty="0"/>
          </a:p>
        </p:txBody>
      </p:sp>
      <p:sp>
        <p:nvSpPr>
          <p:cNvPr id="9" name="item-2-tag"/>
          <p:cNvSpPr/>
          <p:nvPr/>
        </p:nvSpPr>
        <p:spPr>
          <a:xfrm>
            <a:off x="548640" y="3163824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Known</a:t>
            </a:r>
            <a:endParaRPr lang="en-US" sz="1300" dirty="0"/>
          </a:p>
        </p:txBody>
      </p:sp>
      <p:sp>
        <p:nvSpPr>
          <p:cNvPr id="10" name="item-2-head"/>
          <p:cNvSpPr txBox="1"/>
          <p:nvPr/>
        </p:nvSpPr>
        <p:spPr>
          <a:xfrm>
            <a:off x="2194560" y="314553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Inter-SR iBGP stuck in CONNECT</a:t>
            </a:r>
            <a:endParaRPr lang="en-US" sz="1800" dirty="0"/>
          </a:p>
        </p:txBody>
      </p:sp>
      <p:sp>
        <p:nvSpPr>
          <p:cNvPr id="11" name="item-2-desc"/>
          <p:cNvSpPr txBox="1"/>
          <p:nvPr/>
        </p:nvSpPr>
        <p:spPr>
          <a:xfrm>
            <a:off x="2194560" y="354787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All three T0s. Edges share TEP VLAN 510 with hosts; harmless while every segment is VLAN-backed.</a:t>
            </a:r>
            <a:endParaRPr lang="en-US" sz="1400" dirty="0"/>
          </a:p>
        </p:txBody>
      </p:sp>
      <p:sp>
        <p:nvSpPr>
          <p:cNvPr id="12" name="item-3-tag"/>
          <p:cNvSpPr/>
          <p:nvPr/>
        </p:nvSpPr>
        <p:spPr>
          <a:xfrm>
            <a:off x="548640" y="4151376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Known</a:t>
            </a:r>
            <a:endParaRPr lang="en-US" sz="1300" dirty="0"/>
          </a:p>
        </p:txBody>
      </p:sp>
      <p:sp>
        <p:nvSpPr>
          <p:cNvPr id="13" name="item-3-head"/>
          <p:cNvSpPr txBox="1"/>
          <p:nvPr/>
        </p:nvSpPr>
        <p:spPr>
          <a:xfrm>
            <a:off x="2194560" y="413308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T0s pass routes between the Palos</a:t>
            </a:r>
            <a:endParaRPr lang="en-US" sz="1800" dirty="0"/>
          </a:p>
        </p:txBody>
      </p:sp>
      <p:sp>
        <p:nvSpPr>
          <p:cNvPr id="14" name="item-3-desc"/>
          <p:cNvSpPr txBox="1"/>
          <p:nvPr/>
        </p:nvSpPr>
        <p:spPr>
          <a:xfrm>
            <a:off x="2194560" y="453542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Each T0 sends ~36 prefixes to 10.5.0.8 but 4 to 10.5.0.7: a possible transit path. A route map would stop it.</a:t>
            </a:r>
            <a:endParaRPr lang="en-US" sz="1400" dirty="0"/>
          </a:p>
        </p:txBody>
      </p:sp>
      <p:sp>
        <p:nvSpPr>
          <p:cNvPr id="15" name="item-4-tag"/>
          <p:cNvSpPr/>
          <p:nvPr/>
        </p:nvSpPr>
        <p:spPr>
          <a:xfrm>
            <a:off x="548640" y="5138928"/>
            <a:ext cx="137160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Known</a:t>
            </a:r>
            <a:endParaRPr lang="en-US" sz="1300" dirty="0"/>
          </a:p>
        </p:txBody>
      </p:sp>
      <p:sp>
        <p:nvSpPr>
          <p:cNvPr id="16" name="item-4-head"/>
          <p:cNvSpPr txBox="1"/>
          <p:nvPr/>
        </p:nvSpPr>
        <p:spPr>
          <a:xfrm>
            <a:off x="2194560" y="51206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Single uplink on vcenter3</a:t>
            </a:r>
            <a:endParaRPr lang="en-US" sz="1800" dirty="0"/>
          </a:p>
        </p:txBody>
      </p:sp>
      <p:sp>
        <p:nvSpPr>
          <p:cNvPr id="17" name="item-4-desc"/>
          <p:cNvSpPr txBox="1"/>
          <p:nvPr/>
        </p:nvSpPr>
        <p:spPr>
          <a:xfrm>
            <a:off x="2194560" y="5522976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lm3 hosts and edges have no uplink redundancy; no NTP set on vsphere15 / vsphere16.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SX Lab">
  <a:themeElements>
    <a:clrScheme name="NSX Lab">
      <a:dk1>
        <a:srgbClr val="11233E"/>
      </a:dk1>
      <a:lt1>
        <a:srgbClr val="FFFFFF"/>
      </a:lt1>
      <a:dk2>
        <a:srgbClr val="5C6C7E"/>
      </a:dk2>
      <a:lt2>
        <a:srgbClr val="F2F6FA"/>
      </a:lt2>
      <a:accent1>
        <a:srgbClr val="216FBD"/>
      </a:accent1>
      <a:accent2>
        <a:srgbClr val="009691"/>
      </a:accent2>
      <a:accent3>
        <a:srgbClr val="27965B"/>
      </a:accent3>
      <a:accent4>
        <a:srgbClr val="EB852D"/>
      </a:accent4>
      <a:accent5>
        <a:srgbClr val="BE3737"/>
      </a:accent5>
      <a:accent6>
        <a:srgbClr val="C9D3DE"/>
      </a:accent6>
      <a:hlink>
        <a:srgbClr val="216FBD"/>
      </a:hlink>
      <a:folHlink>
        <a:srgbClr val="5C6C7E"/>
      </a:folHlink>
    </a:clrScheme>
    <a:fontScheme name="NSX La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topology: NSX Local Managers and Palo Alto</dc:title>
  <dc:subject>PptxGenJS Presentation</dc:subject>
  <dc:creator>Mike Ferguson</dc:creator>
  <cp:lastModifiedBy>Mike Ferguson</cp:lastModifiedBy>
  <cp:revision>1</cp:revision>
  <dcterms:created xsi:type="dcterms:W3CDTF">2026-10-06T13:06:05Z</dcterms:created>
  <dcterms:modified xsi:type="dcterms:W3CDTF">2026-10-06T13:06:05Z</dcterms:modified>
</cp:coreProperties>
</file>