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 + Palo Alto Workflow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NSX sites and the Palo Alto between them, without breaking traffic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029968" cy="1554480"/>
          </a:xfrm>
          <a:prstGeom prst="roundRect">
            <a:avLst>
              <a:gd name="adj" fmla="val 7059"/>
            </a:avLst>
          </a:prstGeom>
          <a:solidFill>
            <a:srgbClr val="1B3354"/>
          </a:solidFill>
          <a:ln w="12700">
            <a:solidFill>
              <a:srgbClr val="1B335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31520" y="3611880"/>
            <a:ext cx="530352" cy="530352"/>
          </a:xfrm>
          <a:prstGeom prst="ellipse">
            <a:avLst/>
          </a:prstGeom>
          <a:solidFill>
            <a:srgbClr val="216FBD"/>
          </a:solidFill>
          <a:ln w="12700">
            <a:solidFill>
              <a:srgbClr val="216FB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34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61188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3434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config to the target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11780" y="3383280"/>
            <a:ext cx="2029968" cy="1554480"/>
          </a:xfrm>
          <a:prstGeom prst="roundRect">
            <a:avLst>
              <a:gd name="adj" fmla="val 7059"/>
            </a:avLst>
          </a:prstGeom>
          <a:solidFill>
            <a:srgbClr val="1B3354"/>
          </a:solidFill>
          <a:ln w="12700">
            <a:solidFill>
              <a:srgbClr val="1B3354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994660" y="3611880"/>
            <a:ext cx="530352" cy="530352"/>
          </a:xfrm>
          <a:prstGeom prst="ellipse">
            <a:avLst/>
          </a:prstGeom>
          <a:solidFill>
            <a:srgbClr val="EB852D"/>
          </a:solidFill>
          <a:ln w="12700">
            <a:solidFill>
              <a:srgbClr val="EB852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994660" y="3611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340" dirty="0"/>
          </a:p>
        </p:txBody>
      </p:sp>
      <p:sp>
        <p:nvSpPr>
          <p:cNvPr id="12" name="Text 10"/>
          <p:cNvSpPr txBox="1"/>
          <p:nvPr/>
        </p:nvSpPr>
        <p:spPr>
          <a:xfrm>
            <a:off x="3634740" y="361188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remap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994660" y="43434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mapped IPs to existing groups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74920" y="3383280"/>
            <a:ext cx="2029968" cy="1554480"/>
          </a:xfrm>
          <a:prstGeom prst="roundRect">
            <a:avLst>
              <a:gd name="adj" fmla="val 7059"/>
            </a:avLst>
          </a:prstGeom>
          <a:solidFill>
            <a:srgbClr val="1B3354"/>
          </a:solidFill>
          <a:ln w="12700">
            <a:solidFill>
              <a:srgbClr val="1B335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257800" y="3611880"/>
            <a:ext cx="530352" cy="530352"/>
          </a:xfrm>
          <a:prstGeom prst="ellipse">
            <a:avLst/>
          </a:prstGeom>
          <a:solidFill>
            <a:srgbClr val="009691"/>
          </a:solidFill>
          <a:ln w="12700">
            <a:solidFill>
              <a:srgbClr val="00969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5257800" y="3611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34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361188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Source-IP siblings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43434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source VMs reachable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38060" y="3383280"/>
            <a:ext cx="2029968" cy="1554480"/>
          </a:xfrm>
          <a:prstGeom prst="roundRect">
            <a:avLst>
              <a:gd name="adj" fmla="val 7059"/>
            </a:avLst>
          </a:prstGeom>
          <a:solidFill>
            <a:srgbClr val="1B3354"/>
          </a:solidFill>
          <a:ln w="12700">
            <a:solidFill>
              <a:srgbClr val="1B3354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520940" y="3611880"/>
            <a:ext cx="530352" cy="530352"/>
          </a:xfrm>
          <a:prstGeom prst="ellipse">
            <a:avLst/>
          </a:prstGeom>
          <a:solidFill>
            <a:srgbClr val="27965B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7520940" y="3611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340" dirty="0"/>
          </a:p>
        </p:txBody>
      </p:sp>
      <p:sp>
        <p:nvSpPr>
          <p:cNvPr id="22" name="Text 20"/>
          <p:cNvSpPr txBox="1"/>
          <p:nvPr/>
        </p:nvSpPr>
        <p:spPr>
          <a:xfrm>
            <a:off x="8161020" y="3611880"/>
            <a:ext cx="1115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AVS-IP siblings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520940" y="43434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pre-stage AVS addresses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Lab-validated 2026-09-28 to 2026-10-05 on nsx-lm1, nsx-lm2, nsx-lm3 and Panorama pano4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 + Palo Alto migration workflow  •  1/12</a:t>
            </a:r>
            <a:endParaRPr lang="en-US" sz="1000" dirty="0"/>
          </a:p>
        </p:txBody>
      </p:sp>
      <p:sp>
        <p:nvSpPr>
          <p:cNvPr id="26" name="Rounded Rectangle 25"/>
          <p:cNvSpPr/>
          <p:nvPr/>
        </p:nvSpPr>
        <p:spPr>
          <a:xfrm>
            <a:off x="9601200" y="3383280"/>
            <a:ext cx="2029968" cy="1554480"/>
          </a:xfrm>
          <a:prstGeom prst="roundRect">
            <a:avLst>
              <a:gd name="adj" fmla="val 8333"/>
            </a:avLst>
          </a:prstGeom>
          <a:solidFill>
            <a:srgbClr val="1B3354"/>
          </a:solidFill>
          <a:ln w="12700">
            <a:solidFill>
              <a:srgbClr val="1B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784080" y="3611880"/>
            <a:ext cx="530352" cy="530352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611880"/>
            <a:ext cx="53035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3611880"/>
            <a:ext cx="1115568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Palo mirror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4343400"/>
            <a:ext cx="17099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EDCE6"/>
                </a:solidFill>
                <a:latin typeface="Calibri"/>
              </a:rPr>
              <a:t>same groups and tags on dg-5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A, C and D fit together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D only ever ADD groups and rule references; existing groups are never edited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4526280"/>
          </a:xfrm>
          <a:prstGeom prst="roundRect">
            <a:avLst>
              <a:gd name="adj" fmla="val 2424"/>
            </a:avLst>
          </a:prstGeom>
          <a:solidFill>
            <a:srgbClr val="F2F6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nsx-lm1  (source, on-prem)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720840" y="1691640"/>
            <a:ext cx="4937760" cy="4526280"/>
          </a:xfrm>
          <a:prstGeom prst="roundRect">
            <a:avLst>
              <a:gd name="adj" fmla="val 2424"/>
            </a:avLst>
          </a:prstGeom>
          <a:solidFill>
            <a:srgbClr val="F2F6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94944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nsx-lm2  (target)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44805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8A97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914400" y="23317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groups, rules, services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policy: never modified by C or 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27965B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71600" y="3474720"/>
            <a:ext cx="3886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508760" y="34747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D2a  &lt;group&gt;_avs_ips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IP mapped through the CSV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10.6.x → 10.7.x   •   10.21.x → 10.31.x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71600" y="4754880"/>
            <a:ext cx="3886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1508760" y="47548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 rules add the _avs_ips group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the original; separate change window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0" y="2514600"/>
            <a:ext cx="457200" cy="457200"/>
          </a:xfrm>
          <a:prstGeom prst="ellipse">
            <a:avLst/>
          </a:prstGeom>
          <a:solidFill>
            <a:srgbClr val="216FBD"/>
          </a:solidFill>
          <a:ln w="12700">
            <a:solidFill>
              <a:srgbClr val="216FB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9494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543800" y="2331720"/>
            <a:ext cx="388620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216FB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680960" y="233172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16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of the source config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groups, policies, rules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949440" y="3611880"/>
            <a:ext cx="457200" cy="457200"/>
          </a:xfrm>
          <a:prstGeom prst="ellipse">
            <a:avLst/>
          </a:prstGeom>
          <a:solidFill>
            <a:srgbClr val="009691"/>
          </a:solidFill>
          <a:ln w="12700">
            <a:solidFill>
              <a:srgbClr val="00969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9494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543800" y="3474720"/>
            <a:ext cx="3886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969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680960" y="34747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&lt;group&gt;_np_ips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of the source group's current IPs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543800" y="4754880"/>
            <a:ext cx="3886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969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680960" y="47548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add the _np_ips group</a:t>
            </a:r>
            <a:endParaRPr lang="en-US" sz="16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 the original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57800" y="2743200"/>
            <a:ext cx="1645920" cy="0"/>
          </a:xfrm>
          <a:prstGeom prst="line">
            <a:avLst/>
          </a:prstGeom>
          <a:noFill/>
          <a:ln w="31750">
            <a:solidFill>
              <a:srgbClr val="216FB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534924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6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clone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57800" y="3200400"/>
            <a:ext cx="1645920" cy="640080"/>
          </a:xfrm>
          <a:prstGeom prst="line">
            <a:avLst/>
          </a:prstGeom>
          <a:noFill/>
          <a:ln w="31750">
            <a:solidFill>
              <a:srgbClr val="00969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5349240" y="2926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copy IPs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 + Palo Alto migration workflow  •  2/12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two groups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traffic keeps flowing while VMs move one at a time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11233E"/>
          </a:solidFill>
          <a:ln w="12700">
            <a:solidFill>
              <a:srgbClr val="11233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278892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4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web_rule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E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7830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2F6FA"/>
          </a:solidFill>
          <a:ln w="12700">
            <a:solidFill>
              <a:srgbClr val="8A97A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709160" y="1783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vm-group-1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10.6.0.101 · 10.6.1.101 · …</a:t>
            </a:r>
            <a:endParaRPr lang="en-US" sz="18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current IPs, untouched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0" y="370332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E9F5EE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709160" y="37033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vm-group-1_avs_ips</a:t>
            </a:r>
            <a:endParaRPr lang="en-US" sz="18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10.7.0.101 · 10.7.1.101 · …</a:t>
            </a:r>
            <a:endParaRPr lang="en-US" sz="18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by D: CSV-mapped AVS IPs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 flipV="1">
            <a:off x="3200400" y="2514600"/>
            <a:ext cx="1325880" cy="731520"/>
          </a:xfrm>
          <a:prstGeom prst="line">
            <a:avLst/>
          </a:prstGeom>
          <a:noFill/>
          <a:ln w="31750">
            <a:solidFill>
              <a:srgbClr val="11233E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00400" y="3703320"/>
            <a:ext cx="1325880" cy="731520"/>
          </a:xfrm>
          <a:prstGeom prst="line">
            <a:avLst/>
          </a:prstGeom>
          <a:noFill/>
          <a:ln w="31750">
            <a:solidFill>
              <a:srgbClr val="27965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520440" y="32461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06840" y="1901952"/>
            <a:ext cx="292608" cy="292608"/>
          </a:xfrm>
          <a:prstGeom prst="ellipse">
            <a:avLst/>
          </a:prstGeom>
          <a:solidFill>
            <a:srgbClr val="27965B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46404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cutover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matches the current IP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06840" y="3090672"/>
            <a:ext cx="292608" cy="292608"/>
          </a:xfrm>
          <a:prstGeom prst="ellipse">
            <a:avLst/>
          </a:prstGeom>
          <a:solidFill>
            <a:srgbClr val="27965B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9464040" y="30175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VM moves to AVS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the mapped AVS IP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06840" y="4279392"/>
            <a:ext cx="292608" cy="292608"/>
          </a:xfrm>
          <a:prstGeom prst="ellipse">
            <a:avLst/>
          </a:prstGeom>
          <a:solidFill>
            <a:srgbClr val="27965B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9464040" y="4206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taken away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IP removed, no group edited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works the same way on the target: vm-group-1_np_ips holds the source VMs' current IPs.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 + Palo Alto migration workflow  •  3/12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without a report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follows the same path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5C6C7E"/>
          </a:solidFill>
          <a:ln w="12700">
            <a:solidFill>
              <a:srgbClr val="5C6C7E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2487168" y="2354580"/>
            <a:ext cx="329184" cy="0"/>
          </a:xfrm>
          <a:prstGeom prst="line">
            <a:avLst/>
          </a:prstGeom>
          <a:noFill/>
          <a:ln w="25400">
            <a:solidFill>
              <a:srgbClr val="8A97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834640" y="17830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216FBD"/>
          </a:solidFill>
          <a:ln w="12700">
            <a:solidFill>
              <a:srgbClr val="216FBD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97180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no writes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773168" y="2354580"/>
            <a:ext cx="329184" cy="0"/>
          </a:xfrm>
          <a:prstGeom prst="line">
            <a:avLst/>
          </a:prstGeom>
          <a:noFill/>
          <a:ln w="25400">
            <a:solidFill>
              <a:srgbClr val="8A97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120640" y="17830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009691"/>
          </a:solidFill>
          <a:ln w="12700">
            <a:solidFill>
              <a:srgbClr val="00969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5780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+ saved baseline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059168" y="2354580"/>
            <a:ext cx="329184" cy="0"/>
          </a:xfrm>
          <a:prstGeom prst="line">
            <a:avLst/>
          </a:prstGeom>
          <a:noFill/>
          <a:ln w="25400">
            <a:solidFill>
              <a:srgbClr val="8A97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06640" y="17830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27965B"/>
          </a:solidFill>
          <a:ln w="12700">
            <a:solidFill>
              <a:srgbClr val="27965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54380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checks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345168" y="2354580"/>
            <a:ext cx="329184" cy="0"/>
          </a:xfrm>
          <a:prstGeom prst="line">
            <a:avLst/>
          </a:prstGeom>
          <a:noFill/>
          <a:ln w="25400">
            <a:solidFill>
              <a:srgbClr val="8A97A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92640" y="1783080"/>
            <a:ext cx="1920240" cy="1143000"/>
          </a:xfrm>
          <a:prstGeom prst="roundRect">
            <a:avLst>
              <a:gd name="adj" fmla="val 8000"/>
            </a:avLst>
          </a:prstGeom>
          <a:solidFill>
            <a:srgbClr val="EB852D"/>
          </a:solidFill>
          <a:ln w="12700">
            <a:solidFill>
              <a:srgbClr val="EB852D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829800" y="178308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19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needed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685800" y="342900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Add-only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send the union: an IP is never removed from a group.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172200" y="342900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309360" y="342900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needless writes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with nothing new is skipped: no write, no prompt.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685800" y="475488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groups untouched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and D only add new groups and rule references.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172200" y="475488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6309360" y="4754880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rollback</a:t>
            </a:r>
            <a:endParaRPr lang="en-US" sz="17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another manager's baseline. Group and rule rollbacks delete only what their apply created.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 + Palo Alto migration workflow  •  4/12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the lab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nsx-lm1 → nsx-lm2, 2026-09-28: baseline plus 43 seeded test objects in 10.21.0.0/16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16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cloned by A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failed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383280" y="20116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9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_np_ips groups by C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rule references added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217920" y="20116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79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_avs_ips groups by D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rule references (dry run)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052560" y="182880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052560" y="201168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B85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6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2918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rules kept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fixed rollback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00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checked against the committed baseline and the source's live IPs  •  360 automated tests then, 444 now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NSX + Palo Alto migration workflow  •  5/12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Three sites and a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BEDCE6"/>
                </a:solidFill>
                <a:latin typeface="Calibri"/>
              </a:rPr>
              <a:t>VMs leave nsx-lm1 for either nsx-lm2 or nsx-lm3. Traffic keeps flowing between all three, and through Palo Alto dg-5 in the middle.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383280"/>
            <a:ext cx="3520440" cy="1554480"/>
          </a:xfrm>
          <a:prstGeom prst="roundRect">
            <a:avLst>
              <a:gd name="adj" fmla="val 8333"/>
            </a:avLst>
          </a:prstGeom>
          <a:solidFill>
            <a:srgbClr val="1B3354"/>
          </a:solidFill>
          <a:ln w="12700">
            <a:solidFill>
              <a:srgbClr val="1B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3611880"/>
            <a:ext cx="566928" cy="566928"/>
          </a:xfrm>
          <a:prstGeom prst="ellipse">
            <a:avLst/>
          </a:prstGeom>
          <a:solidFill>
            <a:srgbClr val="009691"/>
          </a:solidFill>
          <a:ln w="12700">
            <a:solidFill>
              <a:srgbClr val="009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118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61188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Third 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43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EDCE6"/>
                </a:solidFill>
                <a:latin typeface="Calibri"/>
              </a:rPr>
              <a:t>nsx-lm3 joins as a target, with its own subnet map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3383280"/>
            <a:ext cx="3520440" cy="1554480"/>
          </a:xfrm>
          <a:prstGeom prst="roundRect">
            <a:avLst>
              <a:gd name="adj" fmla="val 8333"/>
            </a:avLst>
          </a:prstGeom>
          <a:solidFill>
            <a:srgbClr val="1B3354"/>
          </a:solidFill>
          <a:ln w="12700">
            <a:solidFill>
              <a:srgbClr val="1B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79" y="3611880"/>
            <a:ext cx="566928" cy="566928"/>
          </a:xfrm>
          <a:prstGeom prst="ellipse">
            <a:avLst/>
          </a:prstGeom>
          <a:solidFill>
            <a:srgbClr val="216FBD"/>
          </a:solidFill>
          <a:ln w="12700">
            <a:solidFill>
              <a:srgbClr val="216F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36118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799" y="361188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One step at a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4343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EDCE6"/>
                </a:solidFill>
                <a:latin typeface="Calibri"/>
              </a:rPr>
              <a:t>each step runs through the existing, tested driver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3383280"/>
            <a:ext cx="3520440" cy="1554480"/>
          </a:xfrm>
          <a:prstGeom prst="roundRect">
            <a:avLst>
              <a:gd name="adj" fmla="val 8333"/>
            </a:avLst>
          </a:prstGeom>
          <a:solidFill>
            <a:srgbClr val="1B3354"/>
          </a:solidFill>
          <a:ln w="12700">
            <a:solidFill>
              <a:srgbClr val="1B3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75319" y="3611880"/>
            <a:ext cx="566928" cy="566928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36118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61188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Palo mirrors NSX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4343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EDCE6"/>
                </a:solidFill>
                <a:latin typeface="Calibri"/>
              </a:rPr>
              <a:t>same group types and tags on dg-5, REST API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EDCE6"/>
                </a:solidFill>
                <a:latin typeface="Calibri"/>
              </a:rPr>
              <a:t>NSX + Palo Alto migration workflow  •  6/12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1233E"/>
                </a:solidFill>
                <a:latin typeface="Calibri"/>
              </a:rPr>
              <a:t>A VM can land on either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C6C7E"/>
                </a:solidFill>
                <a:latin typeface="Calibri"/>
              </a:rPr>
              <a:t>Every manager holds the addresses of the other two sites as IP-only sibling groups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514600"/>
            <a:ext cx="3154680" cy="160020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216FBD"/>
          </a:solidFill>
          <a:ln w="12700">
            <a:solidFill>
              <a:srgbClr val="216F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11233E"/>
                </a:solidFill>
                <a:latin typeface="Calibri"/>
              </a:rPr>
              <a:t>nsx-lm1</a:t>
            </a:r>
          </a:p>
          <a:p>
            <a:pPr algn="l"/>
            <a:r>
              <a:rPr sz="1300" b="0" i="0">
                <a:solidFill>
                  <a:srgbClr val="5C6C7E"/>
                </a:solidFill>
                <a:latin typeface="Calibri"/>
              </a:rPr>
              <a:t>source  ·  10.6.0.0/16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16FBD"/>
                </a:solidFill>
                <a:latin typeface="Calibri"/>
              </a:rPr>
              <a:t>holds lm2 + lm3 addresses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691640"/>
            <a:ext cx="3154680" cy="160020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0" y="1920240"/>
            <a:ext cx="457200" cy="457200"/>
          </a:xfrm>
          <a:prstGeom prst="ellipse">
            <a:avLst/>
          </a:prstGeom>
          <a:solidFill>
            <a:srgbClr val="27965B"/>
          </a:solidFill>
          <a:ln w="12700">
            <a:solidFill>
              <a:srgbClr val="2796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1874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11233E"/>
                </a:solidFill>
                <a:latin typeface="Calibri"/>
              </a:rPr>
              <a:t>nsx-lm2</a:t>
            </a:r>
          </a:p>
          <a:p>
            <a:pPr algn="l"/>
            <a:r>
              <a:rPr sz="1300" b="0" i="0">
                <a:solidFill>
                  <a:srgbClr val="5C6C7E"/>
                </a:solidFill>
                <a:latin typeface="Calibri"/>
              </a:rPr>
              <a:t>AVS  ·  10.7.0.0/16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60604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27965B"/>
                </a:solidFill>
                <a:latin typeface="Calibri"/>
              </a:rPr>
              <a:t>holds lm1 + lm3 addresses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8200" y="3794760"/>
            <a:ext cx="3154680" cy="160020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D5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0" y="4023360"/>
            <a:ext cx="457200" cy="457200"/>
          </a:xfrm>
          <a:prstGeom prst="ellipse">
            <a:avLst/>
          </a:prstGeom>
          <a:solidFill>
            <a:srgbClr val="EB852D"/>
          </a:solidFill>
          <a:ln w="12700">
            <a:solidFill>
              <a:srgbClr val="EB8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4023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397764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i="0">
                <a:solidFill>
                  <a:srgbClr val="11233E"/>
                </a:solidFill>
                <a:latin typeface="Calibri"/>
              </a:rPr>
              <a:t>nsx-lm3</a:t>
            </a:r>
          </a:p>
          <a:p>
            <a:pPr algn="l"/>
            <a:r>
              <a:rPr sz="1300" b="0" i="0">
                <a:solidFill>
                  <a:srgbClr val="5C6C7E"/>
                </a:solidFill>
                <a:latin typeface="Calibri"/>
              </a:rPr>
              <a:t>new site  ·  10.8.0.0/16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7091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EB852D"/>
                </a:solidFill>
                <a:latin typeface="Calibri"/>
              </a:rPr>
              <a:t>holds lm1 + lm2 addresses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92040" y="2697480"/>
            <a:ext cx="2331720" cy="1234440"/>
          </a:xfrm>
          <a:prstGeom prst="roundRect">
            <a:avLst>
              <a:gd name="adj" fmla="val 8333"/>
            </a:avLst>
          </a:prstGeom>
          <a:solidFill>
            <a:srgbClr val="E6F4F3"/>
          </a:solidFill>
          <a:ln w="12700">
            <a:solidFill>
              <a:srgbClr val="009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697480"/>
            <a:ext cx="2057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09691"/>
                </a:solidFill>
                <a:latin typeface="Calibri"/>
              </a:rPr>
              <a:t>Palo Alto dg-5</a:t>
            </a:r>
          </a:p>
          <a:p>
            <a:pPr algn="ctr"/>
            <a:r>
              <a:rPr sz="1300" b="0" i="0">
                <a:solidFill>
                  <a:srgbClr val="5C6C7E"/>
                </a:solidFill>
                <a:latin typeface="Calibri"/>
              </a:rPr>
              <a:t>pano4  ·  mirrors the NSX groups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03320" y="3310128"/>
            <a:ext cx="1170432" cy="0"/>
          </a:xfrm>
          <a:prstGeom prst="line">
            <a:avLst/>
          </a:prstGeom>
          <a:ln w="25400">
            <a:solidFill>
              <a:srgbClr val="8A97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242048" y="2514600"/>
            <a:ext cx="1197864" cy="548640"/>
          </a:xfrm>
          <a:prstGeom prst="line">
            <a:avLst/>
          </a:prstGeom>
          <a:ln w="25400">
            <a:solidFill>
              <a:srgbClr val="8A97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242048" y="3611880"/>
            <a:ext cx="1197864" cy="960120"/>
          </a:xfrm>
          <a:prstGeom prst="line">
            <a:avLst/>
          </a:prstGeom>
          <a:ln w="25400">
            <a:solidFill>
              <a:srgbClr val="8A97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C6C7E"/>
                </a:solidFill>
                <a:latin typeface="Calibri"/>
              </a:rPr>
              <a:t>Siblings are additive: a VM's address at the site it did not move to stays in the rules, so those mapped ranges stay reserved until the migration ends.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C7E"/>
                </a:solidFill>
                <a:latin typeface="Calibri"/>
              </a:rPr>
              <a:t>NSX + Palo Alto migration workflow  •  7/12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1233E"/>
                </a:solidFill>
                <a:latin typeface="Calibri"/>
              </a:rPr>
              <a:t>One map per target, one step at a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C6C7E"/>
                </a:solidFill>
                <a:latin typeface="Calibri"/>
              </a:rPr>
              <a:t>Each step has its own dry run, apply, verify and rollback, and its own run folder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1920240" cy="1143000"/>
          </a:xfrm>
          <a:prstGeom prst="roundRect">
            <a:avLst>
              <a:gd name="adj" fmla="val 8333"/>
            </a:avLst>
          </a:prstGeom>
          <a:solidFill>
            <a:srgbClr val="216FBD"/>
          </a:solidFill>
          <a:ln w="12700">
            <a:solidFill>
              <a:srgbClr val="216F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6459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A → lm3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clone the policy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87168" y="2359152"/>
            <a:ext cx="329184" cy="0"/>
          </a:xfrm>
          <a:prstGeom prst="line">
            <a:avLst/>
          </a:prstGeom>
          <a:ln w="25400">
            <a:solidFill>
              <a:srgbClr val="8A97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40" y="1783080"/>
            <a:ext cx="1920240" cy="1143000"/>
          </a:xfrm>
          <a:prstGeom prst="roundRect">
            <a:avLst>
              <a:gd name="adj" fmla="val 8333"/>
            </a:avLst>
          </a:prstGeom>
          <a:solidFill>
            <a:srgbClr val="009691"/>
          </a:solidFill>
          <a:ln w="12700">
            <a:solidFill>
              <a:srgbClr val="009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783080"/>
            <a:ext cx="16459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C → lm3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_np_ips siblings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73168" y="2359152"/>
            <a:ext cx="329184" cy="0"/>
          </a:xfrm>
          <a:prstGeom prst="line">
            <a:avLst/>
          </a:prstGeom>
          <a:ln w="25400">
            <a:solidFill>
              <a:srgbClr val="8A97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20640" y="1783080"/>
            <a:ext cx="1920240" cy="1143000"/>
          </a:xfrm>
          <a:prstGeom prst="roundRect">
            <a:avLst>
              <a:gd name="adj" fmla="val 8333"/>
            </a:avLst>
          </a:prstGeom>
          <a:solidFill>
            <a:srgbClr val="27965B"/>
          </a:solidFill>
          <a:ln w="12700">
            <a:solidFill>
              <a:srgbClr val="2796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783080"/>
            <a:ext cx="16459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lm2 → lm1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_avs_ips siblings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59168" y="2359152"/>
            <a:ext cx="329184" cy="0"/>
          </a:xfrm>
          <a:prstGeom prst="line">
            <a:avLst/>
          </a:prstGeom>
          <a:ln w="25400">
            <a:solidFill>
              <a:srgbClr val="8A97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783080"/>
            <a:ext cx="1920240" cy="1143000"/>
          </a:xfrm>
          <a:prstGeom prst="roundRect">
            <a:avLst>
              <a:gd name="adj" fmla="val 8333"/>
            </a:avLst>
          </a:prstGeom>
          <a:solidFill>
            <a:srgbClr val="EB852D"/>
          </a:solidFill>
          <a:ln w="12700">
            <a:solidFill>
              <a:srgbClr val="EB8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783080"/>
            <a:ext cx="16459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lm3 → lm1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_lm3_ips siblings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45167" y="2359152"/>
            <a:ext cx="329185" cy="0"/>
          </a:xfrm>
          <a:prstGeom prst="line">
            <a:avLst/>
          </a:prstGeom>
          <a:ln w="25400">
            <a:solidFill>
              <a:srgbClr val="8A97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92640" y="1783080"/>
            <a:ext cx="1920240" cy="1143000"/>
          </a:xfrm>
          <a:prstGeom prst="roundRect">
            <a:avLst>
              <a:gd name="adj" fmla="val 8333"/>
            </a:avLst>
          </a:prstGeom>
          <a:solidFill>
            <a:srgbClr val="5C6C7E"/>
          </a:solidFill>
          <a:ln w="12700">
            <a:solidFill>
              <a:srgbClr val="5C6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29800" y="1783080"/>
            <a:ext cx="164592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lm2 ↔ lm3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only if they talk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2900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2900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1233E"/>
                </a:solidFill>
                <a:latin typeface="Calibri"/>
              </a:rPr>
              <a:t>One plain CSV per target</a:t>
            </a:r>
          </a:p>
          <a:p>
            <a:pPr algn="l"/>
            <a:r>
              <a:rPr sz="1400" b="0" i="0">
                <a:solidFill>
                  <a:srgbClr val="5C6C7E"/>
                </a:solidFill>
                <a:latin typeface="Calibri"/>
              </a:rPr>
              <a:t>Every NSX step runs through the existing, tested workflow driver; no new NSX code in the path.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42900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1233E"/>
                </a:solidFill>
                <a:latin typeface="Calibri"/>
              </a:rPr>
              <a:t>No shared undo files</a:t>
            </a:r>
          </a:p>
          <a:p>
            <a:pPr algn="l"/>
            <a:r>
              <a:rPr sz="1400" b="0" i="0">
                <a:solidFill>
                  <a:srgbClr val="5C6C7E"/>
                </a:solidFill>
                <a:latin typeface="Calibri"/>
              </a:rPr>
              <a:t>Each step writes to its own run folder, so no two steps share a sibling bundle or a rollback baseline.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5488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75488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1233E"/>
                </a:solidFill>
                <a:latin typeface="Calibri"/>
              </a:rPr>
              <a:t>lm2 map: data/subnet_map_lm2.csv</a:t>
            </a:r>
          </a:p>
          <a:p>
            <a:pPr algn="l"/>
            <a:r>
              <a:rPr sz="1400" b="0" i="0">
                <a:solidFill>
                  <a:srgbClr val="5C6C7E"/>
                </a:solidFill>
                <a:latin typeface="Calibri"/>
              </a:rPr>
              <a:t>10.6 → 10.7. Today's nonprod_map without its 10.8 rows (10.8 is lm3's own space now).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754880"/>
            <a:ext cx="5440680" cy="109728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4754880"/>
            <a:ext cx="5166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1233E"/>
                </a:solidFill>
                <a:latin typeface="Calibri"/>
              </a:rPr>
              <a:t>lm3 map: data/subnet_map_lm3.csv</a:t>
            </a:r>
          </a:p>
          <a:p>
            <a:pPr algn="l"/>
            <a:r>
              <a:rPr sz="1400" b="0" i="0">
                <a:solidFill>
                  <a:srgbClr val="5C6C7E"/>
                </a:solidFill>
                <a:latin typeface="Calibri"/>
              </a:rPr>
              <a:t>10.6 → 10.8, keeping the host part. Overlaps lm3's six placeholder VMs: accepted in the lab.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C7E"/>
                </a:solidFill>
                <a:latin typeface="Calibri"/>
              </a:rPr>
              <a:t>NSX + Palo Alto migration workflow  •  8/12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1233E"/>
                </a:solidFill>
                <a:latin typeface="Calibri"/>
              </a:rPr>
              <a:t>Palo Alto dg-5 mirrors NSX exactly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C6C7E"/>
                </a:solidFill>
                <a:latin typeface="Calibri"/>
              </a:rPr>
              <a:t>Same group types, same tags  ·  REST API only  ·  candidate config, never committed by the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5C6C7E"/>
                </a:solidFill>
                <a:latin typeface="Calibri"/>
              </a:rPr>
              <a:t>On NSX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60" y="1645920"/>
            <a:ext cx="59893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7965B"/>
                </a:solidFill>
                <a:latin typeface="Calibri"/>
              </a:rPr>
              <a:t>On Panorama (dg-5)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4206240" cy="530352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931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33E"/>
                </a:solidFill>
                <a:latin typeface="Calibri"/>
              </a:rPr>
              <a:t>VM with an IP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276856"/>
            <a:ext cx="685800" cy="0"/>
          </a:xfrm>
          <a:prstGeom prst="line">
            <a:avLst/>
          </a:prstGeom>
          <a:ln w="25400">
            <a:solidFill>
              <a:srgbClr val="2796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23560" y="2011680"/>
            <a:ext cx="5989320" cy="530352"/>
          </a:xfrm>
          <a:prstGeom prst="roundRect">
            <a:avLst>
              <a:gd name="adj" fmla="val 8333"/>
            </a:avLst>
          </a:prstGeom>
          <a:solidFill>
            <a:srgbClr val="EAF5EE"/>
          </a:solidFill>
          <a:ln w="12700">
            <a:solidFill>
              <a:srgbClr val="EAF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2011680"/>
            <a:ext cx="5715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1233E"/>
                </a:solidFill>
                <a:latin typeface="Calibri"/>
              </a:rPr>
              <a:t>address object named by its hostname, carrying all of its NSX tags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51760"/>
            <a:ext cx="4206240" cy="530352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931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33E"/>
                </a:solidFill>
                <a:latin typeface="Calibri"/>
              </a:rPr>
              <a:t>IP address entry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46320" y="2916936"/>
            <a:ext cx="685800" cy="0"/>
          </a:xfrm>
          <a:prstGeom prst="line">
            <a:avLst/>
          </a:prstGeom>
          <a:ln w="25400">
            <a:solidFill>
              <a:srgbClr val="2796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23560" y="2651760"/>
            <a:ext cx="5989320" cy="530352"/>
          </a:xfrm>
          <a:prstGeom prst="roundRect">
            <a:avLst>
              <a:gd name="adj" fmla="val 8333"/>
            </a:avLst>
          </a:prstGeom>
          <a:solidFill>
            <a:srgbClr val="EAF5EE"/>
          </a:solidFill>
          <a:ln w="12700">
            <a:solidFill>
              <a:srgbClr val="EAF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2651760"/>
            <a:ext cx="5715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1233E"/>
                </a:solidFill>
                <a:latin typeface="Calibri"/>
              </a:rPr>
              <a:t>address object named by the address: 10.6.0.50, 10.6.1.0_24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4206240" cy="530352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91840"/>
            <a:ext cx="3931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33E"/>
                </a:solidFill>
                <a:latin typeface="Calibri"/>
              </a:rPr>
              <a:t>Tag  scope | value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3557016"/>
            <a:ext cx="685800" cy="0"/>
          </a:xfrm>
          <a:prstGeom prst="line">
            <a:avLst/>
          </a:prstGeom>
          <a:ln w="25400">
            <a:solidFill>
              <a:srgbClr val="2796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23560" y="3291840"/>
            <a:ext cx="5989320" cy="530352"/>
          </a:xfrm>
          <a:prstGeom prst="roundRect">
            <a:avLst>
              <a:gd name="adj" fmla="val 8333"/>
            </a:avLst>
          </a:prstGeom>
          <a:solidFill>
            <a:srgbClr val="EAF5EE"/>
          </a:solidFill>
          <a:ln w="12700">
            <a:solidFill>
              <a:srgbClr val="EAF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3291840"/>
            <a:ext cx="5715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1233E"/>
                </a:solidFill>
                <a:latin typeface="Calibri"/>
              </a:rPr>
              <a:t>tag  scope.value  (for example network.10.6.0.0)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4206240" cy="530352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31920"/>
            <a:ext cx="3931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33E"/>
                </a:solidFill>
                <a:latin typeface="Calibri"/>
              </a:rPr>
              <a:t>Tag group, AND / 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46320" y="4197096"/>
            <a:ext cx="685800" cy="0"/>
          </a:xfrm>
          <a:prstGeom prst="line">
            <a:avLst/>
          </a:prstGeom>
          <a:ln w="25400">
            <a:solidFill>
              <a:srgbClr val="2796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623560" y="3931920"/>
            <a:ext cx="5989320" cy="530352"/>
          </a:xfrm>
          <a:prstGeom prst="roundRect">
            <a:avLst>
              <a:gd name="adj" fmla="val 8333"/>
            </a:avLst>
          </a:prstGeom>
          <a:solidFill>
            <a:srgbClr val="EAF5EE"/>
          </a:solidFill>
          <a:ln w="12700">
            <a:solidFill>
              <a:srgbClr val="EAF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3931920"/>
            <a:ext cx="5715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1233E"/>
                </a:solidFill>
                <a:latin typeface="Calibri"/>
              </a:rPr>
              <a:t>dynamic address group with the same name and the same filter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72000"/>
            <a:ext cx="4206240" cy="530352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72000"/>
            <a:ext cx="3931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33E"/>
                </a:solidFill>
                <a:latin typeface="Calibri"/>
              </a:rPr>
              <a:t>IP group, sibling group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46320" y="4837176"/>
            <a:ext cx="685800" cy="0"/>
          </a:xfrm>
          <a:prstGeom prst="line">
            <a:avLst/>
          </a:prstGeom>
          <a:ln w="25400">
            <a:solidFill>
              <a:srgbClr val="2796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623560" y="4572000"/>
            <a:ext cx="5989320" cy="530352"/>
          </a:xfrm>
          <a:prstGeom prst="roundRect">
            <a:avLst>
              <a:gd name="adj" fmla="val 8333"/>
            </a:avLst>
          </a:prstGeom>
          <a:solidFill>
            <a:srgbClr val="EAF5EE"/>
          </a:solidFill>
          <a:ln w="12700">
            <a:solidFill>
              <a:srgbClr val="EAF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4572000"/>
            <a:ext cx="5715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1233E"/>
                </a:solidFill>
                <a:latin typeface="Calibri"/>
              </a:rPr>
              <a:t>static address group of those address objects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12080"/>
            <a:ext cx="4206240" cy="530352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212080"/>
            <a:ext cx="39319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1233E"/>
                </a:solidFill>
                <a:latin typeface="Calibri"/>
              </a:rPr>
              <a:t>Group of groups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46320" y="5477256"/>
            <a:ext cx="685800" cy="0"/>
          </a:xfrm>
          <a:prstGeom prst="line">
            <a:avLst/>
          </a:prstGeom>
          <a:ln w="25400">
            <a:solidFill>
              <a:srgbClr val="2796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23560" y="5212080"/>
            <a:ext cx="5989320" cy="530352"/>
          </a:xfrm>
          <a:prstGeom prst="roundRect">
            <a:avLst>
              <a:gd name="adj" fmla="val 8333"/>
            </a:avLst>
          </a:prstGeom>
          <a:solidFill>
            <a:srgbClr val="EAF5EE"/>
          </a:solidFill>
          <a:ln w="12700">
            <a:solidFill>
              <a:srgbClr val="EAF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5212080"/>
            <a:ext cx="5715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1233E"/>
                </a:solidFill>
                <a:latin typeface="Calibri"/>
              </a:rPr>
              <a:t>static address group of those groups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5C6C7E"/>
                </a:solidFill>
                <a:latin typeface="Calibri"/>
              </a:rPr>
              <a:t>A group mixing tags and addresses becomes a static group holding a helper dynamic group &lt;name&gt;-tags. Segment and non-tag conditions are reported, not mirrored.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C7E"/>
                </a:solidFill>
                <a:latin typeface="Calibri"/>
              </a:rPr>
              <a:t>NSX + Palo Alto migration workflow  •  9/12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1233E"/>
                </a:solidFill>
                <a:latin typeface="Calibri"/>
              </a:rPr>
              <a:t>First live Panorama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C6C7E"/>
                </a:solidFill>
                <a:latin typeface="Calibri"/>
              </a:rPr>
              <a:t>pano4, device group dg-5, 2026-10-05: four NSX groups, one of each kind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26060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216FBD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1233E"/>
                </a:solidFill>
                <a:latin typeface="Calibri"/>
              </a:rPr>
              <a:t>objects created</a:t>
            </a:r>
          </a:p>
          <a:p>
            <a:pPr algn="ctr"/>
            <a:r>
              <a:rPr sz="1400" b="0" i="0">
                <a:solidFill>
                  <a:srgbClr val="5C6C7E"/>
                </a:solidFill>
                <a:latin typeface="Calibri"/>
              </a:rPr>
              <a:t>5 tags · 13 addresses · 6 groups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606040" cy="251460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26060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27965B"/>
                </a:solidFill>
                <a:latin typeface="Calibri"/>
              </a:rPr>
              <a:t>24 /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1233E"/>
                </a:solidFill>
                <a:latin typeface="Calibri"/>
              </a:rPr>
              <a:t>read back exactly</a:t>
            </a:r>
          </a:p>
          <a:p>
            <a:pPr algn="ctr"/>
            <a:r>
              <a:rPr sz="1400" b="0" i="0">
                <a:solidFill>
                  <a:srgbClr val="5C6C7E"/>
                </a:solidFill>
                <a:latin typeface="Calibri"/>
              </a:rPr>
              <a:t>field by field against the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606040" cy="251460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26060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EB852D"/>
                </a:solidFill>
                <a:latin typeface="Calibri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1233E"/>
                </a:solidFill>
                <a:latin typeface="Calibri"/>
              </a:rPr>
              <a:t>committed</a:t>
            </a:r>
          </a:p>
          <a:p>
            <a:pPr algn="ctr"/>
            <a:r>
              <a:rPr sz="1400" b="0" i="0">
                <a:solidFill>
                  <a:srgbClr val="5C6C7E"/>
                </a:solidFill>
                <a:latin typeface="Calibri"/>
              </a:rPr>
              <a:t>candidate config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606040" cy="251460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011680"/>
            <a:ext cx="26060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0" b="1" i="0">
                <a:solidFill>
                  <a:srgbClr val="009691"/>
                </a:solidFill>
                <a:latin typeface="Calibri"/>
              </a:rPr>
              <a:t>444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29184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11233E"/>
                </a:solidFill>
                <a:latin typeface="Calibri"/>
              </a:rPr>
              <a:t>automated tests</a:t>
            </a:r>
          </a:p>
          <a:p>
            <a:pPr algn="ctr"/>
            <a:r>
              <a:rPr sz="1400" b="0" i="0">
                <a:solidFill>
                  <a:srgbClr val="5C6C7E"/>
                </a:solidFill>
                <a:latin typeface="Calibri"/>
              </a:rPr>
              <a:t>18 of them for the mirror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06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C6C7E"/>
                </a:solidFill>
                <a:latin typeface="Calibri"/>
              </a:rPr>
              <a:t>Before it: hostname tags added to 9 VMs (3 on lm1, all 6 on lm3) and asl_id on the 6 lm3 VMs; every VM must carry a hostname tag. The agent account writes through REST only; the XML API is not used.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C7E"/>
                </a:solidFill>
                <a:latin typeface="Calibri"/>
              </a:rPr>
              <a:t>NSX + Palo Alto migration workflow  •  10/12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1233E"/>
                </a:solidFill>
                <a:latin typeface="Calibri"/>
              </a:rPr>
              <a:t>Groundwork and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C6C7E"/>
                </a:solidFill>
                <a:latin typeface="Calibri"/>
              </a:rPr>
              <a:t>Built along the way; existing scripts changed only where a defect was fixed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141732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212848"/>
            <a:ext cx="548640" cy="548640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128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83080"/>
            <a:ext cx="42976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1233E"/>
                </a:solidFill>
                <a:latin typeface="Calibri"/>
              </a:rPr>
              <a:t>Shared library: app/common</a:t>
            </a:r>
          </a:p>
          <a:p>
            <a:pPr algn="l"/>
            <a:r>
              <a:rPr sz="1400" b="0" i="0">
                <a:solidFill>
                  <a:srgbClr val="5C6C7E"/>
                </a:solidFill>
                <a:latin typeface="Calibri"/>
              </a:rPr>
              <a:t>File IO with atomic writes, paths, UTC time, logging, run folders, IP spans, subnet maps. Imports neither vendor.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440680" cy="141732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2212848"/>
            <a:ext cx="548640" cy="548640"/>
          </a:xfrm>
          <a:prstGeom prst="ellipse">
            <a:avLst/>
          </a:prstGeom>
          <a:solidFill>
            <a:srgbClr val="216FBD"/>
          </a:solidFill>
          <a:ln w="12700">
            <a:solidFill>
              <a:srgbClr val="216F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128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2976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1233E"/>
                </a:solidFill>
                <a:latin typeface="Calibri"/>
              </a:rPr>
              <a:t>nsx-lm5 and nsx-lm6</a:t>
            </a:r>
          </a:p>
          <a:p>
            <a:pPr algn="l"/>
            <a:r>
              <a:rPr sz="1400" b="0" i="0">
                <a:solidFill>
                  <a:srgbClr val="5C6C7E"/>
                </a:solidFill>
                <a:latin typeface="Calibri"/>
              </a:rPr>
              <a:t>Every tool accepts lm1 to lm6. Picking lm5 used to crash with a KeyError; a test now guards the lists.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5440680" cy="141732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858768"/>
            <a:ext cx="548640" cy="548640"/>
          </a:xfrm>
          <a:prstGeom prst="ellipse">
            <a:avLst/>
          </a:prstGeom>
          <a:solidFill>
            <a:srgbClr val="27965B"/>
          </a:solidFill>
          <a:ln w="12700">
            <a:solidFill>
              <a:srgbClr val="2796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5876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429000"/>
            <a:ext cx="42976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1233E"/>
                </a:solidFill>
                <a:latin typeface="Calibri"/>
              </a:rPr>
              <a:t>UTC means UTC</a:t>
            </a:r>
          </a:p>
          <a:p>
            <a:pPr algn="l"/>
            <a:r>
              <a:rPr sz="1400" b="0" i="0">
                <a:solidFill>
                  <a:srgbClr val="5C6C7E"/>
                </a:solidFill>
                <a:latin typeface="Calibri"/>
              </a:rPr>
              <a:t>The Panorama add-services tool logged Central time labelled UTC. Fixed and proven in a non-UTC zone.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429000"/>
            <a:ext cx="5440680" cy="1417320"/>
          </a:xfrm>
          <a:prstGeom prst="roundRect">
            <a:avLst>
              <a:gd name="adj" fmla="val 8333"/>
            </a:avLst>
          </a:prstGeom>
          <a:solidFill>
            <a:srgbClr val="F2F6FA"/>
          </a:solidFill>
          <a:ln w="12700">
            <a:solidFill>
              <a:srgbClr val="F2F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0" y="3858768"/>
            <a:ext cx="548640" cy="548640"/>
          </a:xfrm>
          <a:prstGeom prst="ellipse">
            <a:avLst/>
          </a:prstGeom>
          <a:solidFill>
            <a:srgbClr val="EB852D"/>
          </a:solidFill>
          <a:ln w="12700">
            <a:solidFill>
              <a:srgbClr val="EB8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5876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3429000"/>
            <a:ext cx="429768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11233E"/>
                </a:solidFill>
                <a:latin typeface="Calibri"/>
              </a:rPr>
              <a:t>Closed input stops</a:t>
            </a:r>
          </a:p>
          <a:p>
            <a:pPr algn="l"/>
            <a:r>
              <a:rPr sz="1400" b="0" i="0">
                <a:solidFill>
                  <a:srgbClr val="5C6C7E"/>
                </a:solidFill>
                <a:latin typeface="Calibri"/>
              </a:rPr>
              <a:t>VM-tag push and revert approved the next batch when input closed. Now they stop and still write the manifest.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333"/>
            </a:avLst>
          </a:prstGeom>
          <a:solidFill>
            <a:srgbClr val="E6F4F3"/>
          </a:solidFill>
          <a:ln w="12700">
            <a:solidFill>
              <a:srgbClr val="009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 i="0">
                <a:solidFill>
                  <a:srgbClr val="11233E"/>
                </a:solidFill>
                <a:latin typeface="Calibri"/>
              </a:rPr>
              <a:t>Status and runbooks: docs/multivendor/STATUS.md and RUNBOOK_MULTIVENDOR_ROLLOUT (bash and PowerShell). All of this is uncommitted until reviewed.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5C6C7E"/>
                </a:solidFill>
                <a:latin typeface="Calibri"/>
              </a:rPr>
              <a:t>NSX + Palo Alto migration workflow  •  11/12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Open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BEDCE6"/>
                </a:solidFill>
                <a:latin typeface="Calibri"/>
              </a:rPr>
              <a:t>NSX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475488" cy="475488"/>
          </a:xfrm>
          <a:prstGeom prst="ellipse">
            <a:avLst/>
          </a:prstGeom>
          <a:solidFill>
            <a:srgbClr val="009691"/>
          </a:solidFill>
          <a:ln w="12700">
            <a:solidFill>
              <a:srgbClr val="009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737360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C: cover nested and segment-based groups</a:t>
            </a:r>
          </a:p>
          <a:p>
            <a:pPr algn="l"/>
            <a:r>
              <a:rPr sz="1300" b="0" i="0">
                <a:solidFill>
                  <a:srgbClr val="BEDCE6"/>
                </a:solidFill>
                <a:latin typeface="Calibri"/>
              </a:rPr>
              <a:t>rules using them miss source IPs today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75488" cy="475488"/>
          </a:xfrm>
          <a:prstGeom prst="ellipse">
            <a:avLst/>
          </a:prstGeom>
          <a:solidFill>
            <a:srgbClr val="EB852D"/>
          </a:solidFill>
          <a:ln w="12700">
            <a:solidFill>
              <a:srgbClr val="EB8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97480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Services and policies rollbacks</a:t>
            </a:r>
          </a:p>
          <a:p>
            <a:pPr algn="l"/>
            <a:r>
              <a:rPr sz="1300" b="0" i="0">
                <a:solidFill>
                  <a:srgbClr val="BEDCE6"/>
                </a:solidFill>
                <a:latin typeface="Calibri"/>
              </a:rPr>
              <a:t>delete only what they created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49039"/>
            <a:ext cx="475488" cy="475488"/>
          </a:xfrm>
          <a:prstGeom prst="ellipse">
            <a:avLst/>
          </a:prstGeom>
          <a:solidFill>
            <a:srgbClr val="27965B"/>
          </a:solidFill>
          <a:ln w="12700">
            <a:solidFill>
              <a:srgbClr val="2796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57600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Workflow A rollback after a second site</a:t>
            </a:r>
          </a:p>
          <a:p>
            <a:pPr algn="l"/>
            <a:r>
              <a:rPr sz="1300" b="0" i="0">
                <a:solidFill>
                  <a:srgbClr val="BEDCE6"/>
                </a:solidFill>
                <a:latin typeface="Calibri"/>
              </a:rPr>
              <a:t>the shared baseline folder needs --from-baseline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09159"/>
            <a:ext cx="475488" cy="475488"/>
          </a:xfrm>
          <a:prstGeom prst="ellipse">
            <a:avLst/>
          </a:prstGeom>
          <a:solidFill>
            <a:srgbClr val="216FBD"/>
          </a:solidFill>
          <a:ln w="12700">
            <a:solidFill>
              <a:srgbClr val="216F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709159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617720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nonprod_map.csv: 10.8 rows collide</a:t>
            </a:r>
          </a:p>
          <a:p>
            <a:pPr algn="l"/>
            <a:r>
              <a:rPr sz="1300" b="0" i="0">
                <a:solidFill>
                  <a:srgbClr val="BEDCE6"/>
                </a:solidFill>
                <a:latin typeface="Calibri"/>
              </a:rPr>
              <a:t>a /24 row disagrees with its /16 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325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BEDCE6"/>
                </a:solidFill>
                <a:latin typeface="Calibri"/>
              </a:rPr>
              <a:t>Multivendor</a:t>
            </a:r>
          </a:p>
        </p:txBody>
      </p:sp>
      <p:sp>
        <p:nvSpPr>
          <p:cNvPr id="17" name="Oval 16"/>
          <p:cNvSpPr/>
          <p:nvPr/>
        </p:nvSpPr>
        <p:spPr>
          <a:xfrm>
            <a:off x="6263640" y="1828800"/>
            <a:ext cx="475488" cy="475488"/>
          </a:xfrm>
          <a:prstGeom prst="ellipse">
            <a:avLst/>
          </a:prstGeom>
          <a:solidFill>
            <a:srgbClr val="6B4FA8"/>
          </a:solidFill>
          <a:ln w="12700">
            <a:solidFill>
              <a:srgbClr val="6B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82880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1737360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Hostname tags on lm1's -old and -New VMs</a:t>
            </a:r>
          </a:p>
          <a:p>
            <a:pPr algn="l"/>
            <a:r>
              <a:rPr sz="1300" b="0" i="0">
                <a:solidFill>
                  <a:srgbClr val="BEDCE6"/>
                </a:solidFill>
                <a:latin typeface="Calibri"/>
              </a:rPr>
              <a:t>the full lm1 mirror needs them</a:t>
            </a:r>
          </a:p>
        </p:txBody>
      </p:sp>
      <p:sp>
        <p:nvSpPr>
          <p:cNvPr id="20" name="Oval 19"/>
          <p:cNvSpPr/>
          <p:nvPr/>
        </p:nvSpPr>
        <p:spPr>
          <a:xfrm>
            <a:off x="6263640" y="2788920"/>
            <a:ext cx="475488" cy="475488"/>
          </a:xfrm>
          <a:prstGeom prst="ellipse">
            <a:avLst/>
          </a:prstGeom>
          <a:solidFill>
            <a:srgbClr val="009691"/>
          </a:solidFill>
          <a:ln w="12700">
            <a:solidFill>
              <a:srgbClr val="0096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78892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697480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Full lm1 mirror, then dg-5 rules</a:t>
            </a:r>
          </a:p>
          <a:p>
            <a:pPr algn="l"/>
            <a:r>
              <a:rPr sz="1300" b="0" i="0">
                <a:solidFill>
                  <a:srgbClr val="BEDCE6"/>
                </a:solidFill>
                <a:latin typeface="Calibri"/>
              </a:rPr>
              <a:t>57 groups planned; rules (P3) not built</a:t>
            </a:r>
          </a:p>
        </p:txBody>
      </p:sp>
      <p:sp>
        <p:nvSpPr>
          <p:cNvPr id="23" name="Oval 22"/>
          <p:cNvSpPr/>
          <p:nvPr/>
        </p:nvSpPr>
        <p:spPr>
          <a:xfrm>
            <a:off x="6263640" y="3749039"/>
            <a:ext cx="475488" cy="475488"/>
          </a:xfrm>
          <a:prstGeom prst="ellipse">
            <a:avLst/>
          </a:prstGeom>
          <a:solidFill>
            <a:srgbClr val="EB852D"/>
          </a:solidFill>
          <a:ln w="12700">
            <a:solidFill>
              <a:srgbClr val="EB85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749039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657600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Probe tool prints the password on errors</a:t>
            </a:r>
          </a:p>
          <a:p>
            <a:pPr algn="l"/>
            <a:r>
              <a:rPr sz="1300" b="0" i="0">
                <a:solidFill>
                  <a:srgbClr val="BEDCE6"/>
                </a:solidFill>
                <a:latin typeface="Calibri"/>
              </a:rPr>
              <a:t>fix it the way the mirror tool does</a:t>
            </a:r>
          </a:p>
        </p:txBody>
      </p:sp>
      <p:sp>
        <p:nvSpPr>
          <p:cNvPr id="26" name="Oval 25"/>
          <p:cNvSpPr/>
          <p:nvPr/>
        </p:nvSpPr>
        <p:spPr>
          <a:xfrm>
            <a:off x="6263640" y="4709159"/>
            <a:ext cx="475488" cy="475488"/>
          </a:xfrm>
          <a:prstGeom prst="ellipse">
            <a:avLst/>
          </a:prstGeom>
          <a:solidFill>
            <a:srgbClr val="5C6C7E"/>
          </a:solidFill>
          <a:ln w="12700">
            <a:solidFill>
              <a:srgbClr val="5C6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709159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617720"/>
            <a:ext cx="4617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Review or revert the 24 test objects</a:t>
            </a:r>
          </a:p>
          <a:p>
            <a:pPr algn="l"/>
            <a:r>
              <a:rPr sz="1300" b="0" i="0">
                <a:solidFill>
                  <a:srgbClr val="BEDCE6"/>
                </a:solidFill>
                <a:latin typeface="Calibri"/>
              </a:rPr>
              <a:t>still in pano4's candidate 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76072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BEDCE6"/>
                </a:solidFill>
                <a:latin typeface="Calibri"/>
              </a:rPr>
              <a:t>Also open: automatic backup before every apply; D2a re-runs count their own siblings; D verify rule keys. Detail: docs/multivendor/STATUS.md and docs/nsx/RUNBOOK_WORKFLOW.md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BEDCE6"/>
                </a:solidFill>
                <a:latin typeface="Calibri"/>
              </a:rPr>
              <a:t>NSX + Palo Alto migration workflow  •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NSX Workflow</dc:title>
  <dc:subject>PptxGenJS Presentation</dc:subject>
  <dc:creator>PptxGenJS</dc:creator>
  <cp:lastModifiedBy>PptxGenJS</cp:lastModifiedBy>
  <cp:revision>1</cp:revision>
  <dcterms:created xsi:type="dcterms:W3CDTF">2026-09-29T04:39:05Z</dcterms:created>
  <dcterms:modified xsi:type="dcterms:W3CDTF">2026-09-29T04:39:05Z</dcterms:modified>
</cp:coreProperties>
</file>