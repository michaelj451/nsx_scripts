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>
            <a:solidFill>
              <a:srgbClr val="F2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233E"/>
          </a:solidFill>
          <a:ln>
            <a:solidFill>
              <a:srgbClr val="112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286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NSX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5087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1233E"/>
                </a:solidFill>
                <a:latin typeface="Aptos"/>
              </a:rPr>
              <a:t>A short operating model for workflows A–D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691"/>
                </a:solidFill>
                <a:latin typeface="Aptos"/>
              </a:rPr>
              <a:t>Develop → test and report → implement safely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03320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886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16FBD"/>
                </a:solidFill>
                <a:latin typeface="Apto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clone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3703320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B8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1" y="3886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B852D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in-place remap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703320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1" y="3886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9691"/>
                </a:solidFill>
                <a:latin typeface="Apto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59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decompose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3703320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7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3886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7965B"/>
                </a:solidFill>
                <a:latin typeface="Aptos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production remap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Purpose: move or adapt NSX security policy while preserving reviewability, rollback, and traffic safety.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33E"/>
                </a:solidFill>
                <a:latin typeface="Aptos"/>
              </a:rPr>
              <a:t>What each workflow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C7E"/>
                </a:solidFill>
                <a:latin typeface="Aptos"/>
              </a:rPr>
              <a:t>Same controlled pattern; different target and change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097280" cy="54864"/>
          </a:xfrm>
          <a:prstGeom prst="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685800" cy="685800"/>
          </a:xfrm>
          <a:prstGeom prst="roundRect">
            <a:avLst/>
          </a:prstGeom>
          <a:solidFill>
            <a:srgbClr val="216FBD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4356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Clone policy objects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435608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Copy services, groups, policies, and rules to a target LM; segments are stripped.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685800" cy="685800"/>
          </a:xfrm>
          <a:prstGeom prst="roundRect">
            <a:avLst/>
          </a:prstGeom>
          <a:solidFill>
            <a:srgbClr val="EB852D"/>
          </a:solidFill>
          <a:ln>
            <a:solidFill>
              <a:srgbClr val="EB8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786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In-place remap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8608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Add mapped IPs to existing groups; groups-only, additive, and idempotent.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685800" cy="685800"/>
          </a:xfrm>
          <a:prstGeom prst="round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1304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7216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AVS sibling groups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21607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Create IP-only sibling groups for the AVS target and amend rule references.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46320"/>
            <a:ext cx="685800" cy="685800"/>
          </a:xfrm>
          <a:prstGeom prst="roundRect">
            <a:avLst/>
          </a:prstGeom>
          <a:solidFill>
            <a:srgbClr val="27965B"/>
          </a:solidFill>
          <a:ln>
            <a:solidFill>
              <a:srgbClr val="27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95604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646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On-prem nonprod siblings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64607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Create mapped sibling groups for the standalone nonprod environment.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>
            <a:solidFill>
              <a:srgbClr val="F2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33E"/>
                </a:solidFill>
                <a:latin typeface="Aptos"/>
              </a:rPr>
              <a:t>Phase 1 —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C7E"/>
                </a:solidFill>
                <a:latin typeface="Aptos"/>
              </a:rPr>
              <a:t>Build and transform offline before any NSX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097280" cy="54864"/>
          </a:xfrm>
          <a:prstGeom prst="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46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16FBD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019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233E"/>
                </a:solidFill>
                <a:latin typeface="Aptos"/>
              </a:rP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Export current state and freeze the source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246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87451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9691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019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233E"/>
                </a:solidFill>
                <a:latin typeface="Aptos"/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Build clone, sibling, or CSV-remap bundles.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645920"/>
            <a:ext cx="3246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B8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87451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B852D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9019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233E"/>
                </a:solidFill>
                <a:latin typeface="Aptos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Inspect diffs, scope, exclusions, and rollback baseline.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233E"/>
                </a:solidFill>
                <a:latin typeface="Aptos"/>
              </a:rPr>
              <a:t>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0916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233E"/>
                </a:solidFill>
                <a:latin typeface="Aptos"/>
              </a:rPr>
              <a:t>• Dry-run is the default; --apply is explicit.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932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233E"/>
                </a:solidFill>
                <a:latin typeface="Aptos"/>
              </a:rPr>
              <a:t>• Inputs and outputs are timestamped and reviewable.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477256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233E"/>
                </a:solidFill>
                <a:latin typeface="Aptos"/>
              </a:rPr>
              <a:t>• Each environment is changed and verified independently.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33E"/>
                </a:solidFill>
                <a:latin typeface="Aptos"/>
              </a:rPr>
              <a:t>Phase 2 — Testing &amp; delivery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C7E"/>
                </a:solidFill>
                <a:latin typeface="Aptos"/>
              </a:rPr>
              <a:t>Real reports show the proposed delta before approval and the result after apply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097280" cy="54864"/>
          </a:xfrm>
          <a:prstGeom prst="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777240"/>
          </a:xfrm>
          <a:prstGeom prst="roundRect">
            <a:avLst/>
          </a:prstGeom>
          <a:solidFill>
            <a:srgbClr val="216FBD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Dry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600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Preview counts and diffs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417320"/>
            <a:ext cx="3200400" cy="777240"/>
          </a:xfrm>
          <a:prstGeom prst="round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600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600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Record created/changed/failed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417320"/>
            <a:ext cx="3200400" cy="777240"/>
          </a:xfrm>
          <a:prstGeom prst="roundRect">
            <a:avLst/>
          </a:prstGeom>
          <a:solidFill>
            <a:srgbClr val="27965B"/>
          </a:solidFill>
          <a:ln>
            <a:solidFill>
              <a:srgbClr val="27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600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600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Read-only live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606040"/>
            <a:ext cx="10744200" cy="2286000"/>
          </a:xfrm>
          <a:prstGeom prst="roundRect">
            <a:avLst/>
          </a:prstGeom>
          <a:solidFill>
            <a:srgbClr val="F2F6FA"/>
          </a:solidFill>
          <a:ln>
            <a:solidFill>
              <a:srgbClr val="F2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233E"/>
                </a:solidFill>
                <a:latin typeface="Aptos"/>
              </a:rPr>
              <a:t>Example: WF-C apply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16FBD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3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C7E"/>
                </a:solidFill>
                <a:latin typeface="Aptos"/>
              </a:rPr>
              <a:t>created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009691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7763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C7E"/>
                </a:solidFill>
                <a:latin typeface="Aptos"/>
              </a:rPr>
              <a:t>changed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7965B"/>
                </a:solidFill>
                <a:latin typeface="Apto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97763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C7E"/>
                </a:solidFill>
                <a:latin typeface="Aptos"/>
              </a:rPr>
              <a:t>failed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EB852D"/>
                </a:solidFill>
                <a:latin typeface="Aptos"/>
              </a:rPr>
              <a:t>5 /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C7E"/>
                </a:solidFill>
                <a:latin typeface="Aptos"/>
              </a:rPr>
              <a:t>IPs + / 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1233E"/>
                </a:solidFill>
                <a:latin typeface="Apto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97763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C7E"/>
                </a:solidFill>
                <a:latin typeface="Aptos"/>
              </a:rPr>
              <a:t>rule refs 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2578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1233E"/>
                </a:solidFill>
                <a:latin typeface="Aptos"/>
              </a:rPr>
              <a:t>Audit: network-group-8_np_ips created with 4 IPs; allow-icmp-network-8 gained 2 sibling references.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>
            <a:solidFill>
              <a:srgbClr val="F2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33E"/>
                </a:solidFill>
                <a:latin typeface="Aptos"/>
              </a:rPr>
              <a:t>Report example — Workflow B dry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C7E"/>
                </a:solidFill>
                <a:latin typeface="Aptos"/>
              </a:rPr>
              <a:t>Existing remap report used as the approval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097280" cy="54864"/>
          </a:xfrm>
          <a:prstGeom prst="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257800" cy="4434840"/>
          </a:xfrm>
          <a:prstGeom prst="roundRect">
            <a:avLst/>
          </a:prstGeom>
          <a:solidFill>
            <a:srgbClr val="11233E"/>
          </a:solidFill>
          <a:ln>
            <a:solidFill>
              <a:srgbClr val="112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6420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CSV IP remap dry-run: nsx-gm1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Mode: DRY-RUN
Groups: 13 seen • 13 dry-run • 0 failed
IPs to add: 3 • removed: 0
Additive-only contract: PASS
Result: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CE6"/>
                </a:solidFill>
                <a:latin typeface="Aptos"/>
              </a:rPr>
              <a:t>Would add: 10.16.0.50, 10.16.0.51, 10.16.1.0/24
From: 10.6.0.50, 10.6.0.51, 10.6.1.0/24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2578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B8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B852D"/>
                </a:solidFill>
                <a:latin typeface="Aptos"/>
              </a:rPr>
              <a:t>What the report gives the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1233E"/>
                </a:solidFill>
                <a:latin typeface="Aptos"/>
              </a:rPr>
              <a:t>• Exact groups and IPs affected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907791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1233E"/>
                </a:solidFill>
                <a:latin typeface="Aptos"/>
              </a:rPr>
              <a:t>• Original values preserved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392424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1233E"/>
                </a:solidFill>
                <a:latin typeface="Aptos"/>
              </a:rPr>
              <a:t>• Unmapped or out-of-scope items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877056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1233E"/>
                </a:solidFill>
                <a:latin typeface="Aptos"/>
              </a:rPr>
              <a:t>• Explicit pass/fail safety contract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61688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1233E"/>
                </a:solidFill>
                <a:latin typeface="Aptos"/>
              </a:rPr>
              <a:t>• A clear apply / do-not-apply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8463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1233E"/>
                </a:solidFill>
                <a:latin typeface="Aptos"/>
              </a:rPr>
              <a:t>• Rerun is a safe no-op once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33E"/>
                </a:solidFill>
                <a:latin typeface="Aptos"/>
              </a:rPr>
              <a:t>Workflow B — separate environment implementations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C7E"/>
                </a:solidFill>
                <a:latin typeface="Aptos"/>
              </a:rPr>
              <a:t>Nonprod and production are independent live environments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097280" cy="54864"/>
          </a:xfrm>
          <a:prstGeom prst="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74920" cy="4389120"/>
          </a:xfrm>
          <a:prstGeom prst="roundRect">
            <a:avLst/>
          </a:prstGeom>
          <a:solidFill>
            <a:srgbClr val="F2F6FA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16FBD"/>
                </a:solidFill>
                <a:latin typeface="Aptos"/>
              </a:rPr>
              <a:t>NONPROD — STANDALONE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Single Local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• Used by the bank for live application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9359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• Capture and review the remap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12394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• Apply groups-only, strict-additive remap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65429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• Reruns detect no remaining additions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8464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C7E"/>
                </a:solidFill>
                <a:latin typeface="Aptos"/>
              </a:rPr>
              <a:t>• Verify this environment independently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5074920" cy="4389120"/>
          </a:xfrm>
          <a:prstGeom prst="roundRect">
            <a:avLst/>
          </a:prstGeom>
          <a:solidFill>
            <a:srgbClr val="F2F6FA"/>
          </a:solidFill>
          <a:ln>
            <a:solidFill>
              <a:srgbClr val="27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783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7965B"/>
                </a:solidFill>
                <a:latin typeface="Aptos"/>
              </a:rPr>
              <a:t>PRODUCTION — SEPARATE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377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1233E"/>
                </a:solidFill>
                <a:latin typeface="Aptos"/>
              </a:rPr>
              <a:t>Global Manager + 3 Local Managers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Separate production environment; no promotion from nonprod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68503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Run the approved process against required GM domains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0682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Each Local Manager receives its local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92861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Verify each site and retain rollback baselines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6080760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B852D"/>
                </a:solidFill>
                <a:latin typeface="Aptos"/>
              </a:rPr>
              <a:t>INDEPENDENT CHANGE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>
            <a:solidFill>
              <a:srgbClr val="F2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33E"/>
                </a:solidFill>
                <a:latin typeface="Aptos"/>
              </a:rPr>
              <a:t>Workflows A / C / D — target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C7E"/>
                </a:solidFill>
                <a:latin typeface="Aptos"/>
              </a:rPr>
              <a:t>Each workflow creates the right objects for its destination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097280" cy="54864"/>
          </a:xfrm>
          <a:prstGeom prst="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461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16FBD"/>
                </a:solidFill>
                <a:latin typeface="Aptos"/>
              </a:rPr>
              <a:t>A  Clone to AVS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Copy services, groups, policies, and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18687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Strip segments for the target 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770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Verify object parity and membership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17320"/>
            <a:ext cx="32461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783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691"/>
                </a:solidFill>
                <a:latin typeface="Aptos"/>
              </a:rPr>
              <a:t>C  Siblings to AVS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560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Create IP-only sibling groups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218687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Move effective IP membership into siblings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8770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Amend rule references and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417320"/>
            <a:ext cx="32461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27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7830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965B"/>
                </a:solidFill>
                <a:latin typeface="Aptos"/>
              </a:rPr>
              <a:t>D  Siblings to on-prem nonprod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69748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Create CSV-mapped sibling groups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3558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Keep source IPs on originals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40142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6C7E"/>
                </a:solidFill>
                <a:latin typeface="Aptos"/>
              </a:rPr>
              <a:t>• Use separate, reversible change windows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33E"/>
          </a:solidFill>
          <a:ln>
            <a:solidFill>
              <a:srgbClr val="112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The operating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No write without a report.
No production change without verification.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94760"/>
            <a:ext cx="2331720" cy="1234440"/>
          </a:xfrm>
          <a:prstGeom prst="roundRect">
            <a:avLst/>
          </a:prstGeom>
          <a:solidFill>
            <a:srgbClr val="216FBD"/>
          </a:solidFill>
          <a:ln>
            <a:solidFill>
              <a:srgbClr val="216F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0416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Dry-run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3794760"/>
            <a:ext cx="2331720" cy="1234440"/>
          </a:xfrm>
          <a:prstGeom prst="roundRect">
            <a:avLst/>
          </a:prstGeom>
          <a:solidFill>
            <a:srgbClr val="EB852D"/>
          </a:solidFill>
          <a:ln>
            <a:solidFill>
              <a:srgbClr val="EB8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9" y="40416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Approve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9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Change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794760"/>
            <a:ext cx="2331720" cy="1234440"/>
          </a:xfrm>
          <a:prstGeom prst="roundRect">
            <a:avLst/>
          </a:prstGeom>
          <a:solidFill>
            <a:srgbClr val="009691"/>
          </a:solidFill>
          <a:ln>
            <a:solidFill>
              <a:srgbClr val="00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416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Apply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Explicit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3794760"/>
            <a:ext cx="2331720" cy="1234440"/>
          </a:xfrm>
          <a:prstGeom prst="roundRect">
            <a:avLst/>
          </a:prstGeom>
          <a:solidFill>
            <a:srgbClr val="27965B"/>
          </a:solidFill>
          <a:ln>
            <a:solidFill>
              <a:srgbClr val="27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40416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Live 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Source: project runbooks and generated delivery reports in docs/nsx and nsx_avs_runs.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C6C7E"/>
                </a:solidFill>
                <a:latin typeface="Aptos"/>
              </a:rPr>
              <a:t>NSX migration workflow  • 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